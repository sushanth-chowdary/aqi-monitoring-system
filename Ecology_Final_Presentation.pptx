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Lexend Deca" charset="1" panose="00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jpe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7.pn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8.jpeg" Type="http://schemas.openxmlformats.org/officeDocument/2006/relationships/image"/><Relationship Id="rId5" Target="../media/image19.jpeg" Type="http://schemas.openxmlformats.org/officeDocument/2006/relationships/image"/><Relationship Id="rId6" Target="../media/image20.jpe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png" Type="http://schemas.openxmlformats.org/officeDocument/2006/relationships/image"/><Relationship Id="rId12" Target="../media/image29.svg" Type="http://schemas.openxmlformats.org/officeDocument/2006/relationships/image"/><Relationship Id="rId13" Target="../media/image30.gif" Type="http://schemas.openxmlformats.org/officeDocument/2006/relationships/image"/><Relationship Id="rId14" Target="../media/image31.png" Type="http://schemas.openxmlformats.org/officeDocument/2006/relationships/image"/><Relationship Id="rId15" Target="../media/image32.svg" Type="http://schemas.openxmlformats.org/officeDocument/2006/relationships/image"/><Relationship Id="rId16" Target="../media/image33.png" Type="http://schemas.openxmlformats.org/officeDocument/2006/relationships/image"/><Relationship Id="rId17" Target="../media/image34.svg" Type="http://schemas.openxmlformats.org/officeDocument/2006/relationships/image"/><Relationship Id="rId18" Target="../media/image35.png" Type="http://schemas.openxmlformats.org/officeDocument/2006/relationships/image"/><Relationship Id="rId19" Target="../media/image36.svg" Type="http://schemas.openxmlformats.org/officeDocument/2006/relationships/image"/><Relationship Id="rId2" Target="../media/image3.png" Type="http://schemas.openxmlformats.org/officeDocument/2006/relationships/image"/><Relationship Id="rId20" Target="../media/image37.png" Type="http://schemas.openxmlformats.org/officeDocument/2006/relationships/image"/><Relationship Id="rId21" Target="../media/image38.svg" Type="http://schemas.openxmlformats.org/officeDocument/2006/relationships/image"/><Relationship Id="rId22" Target="../media/image11.png" Type="http://schemas.openxmlformats.org/officeDocument/2006/relationships/image"/><Relationship Id="rId23" Target="../media/image12.svg" Type="http://schemas.openxmlformats.org/officeDocument/2006/relationships/image"/><Relationship Id="rId24" Target="../media/image5.png" Type="http://schemas.openxmlformats.org/officeDocument/2006/relationships/image"/><Relationship Id="rId25" Target="../media/image6.svg" Type="http://schemas.openxmlformats.org/officeDocument/2006/relationships/image"/><Relationship Id="rId3" Target="../media/image4.svg" Type="http://schemas.openxmlformats.org/officeDocument/2006/relationships/image"/><Relationship Id="rId4" Target="../media/image21.png" Type="http://schemas.openxmlformats.org/officeDocument/2006/relationships/image"/><Relationship Id="rId5" Target="../media/image22.jpeg" Type="http://schemas.openxmlformats.org/officeDocument/2006/relationships/image"/><Relationship Id="rId6" Target="../media/image23.jpe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2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1619017" y="4612301"/>
            <a:ext cx="6668983" cy="5674699"/>
          </a:xfrm>
          <a:custGeom>
            <a:avLst/>
            <a:gdLst/>
            <a:ahLst/>
            <a:cxnLst/>
            <a:rect r="r" b="b" t="t" l="l"/>
            <a:pathLst>
              <a:path h="5674699" w="6668983">
                <a:moveTo>
                  <a:pt x="6668983" y="0"/>
                </a:moveTo>
                <a:lnTo>
                  <a:pt x="0" y="0"/>
                </a:lnTo>
                <a:lnTo>
                  <a:pt x="0" y="5674699"/>
                </a:lnTo>
                <a:lnTo>
                  <a:pt x="6668983" y="5674699"/>
                </a:lnTo>
                <a:lnTo>
                  <a:pt x="666898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630111" y="2968579"/>
            <a:ext cx="11027778" cy="2956514"/>
          </a:xfrm>
          <a:prstGeom prst="rect">
            <a:avLst/>
          </a:prstGeom>
        </p:spPr>
        <p:txBody>
          <a:bodyPr anchor="t" rtlCol="false" tIns="0" lIns="0" bIns="0" rIns="0">
            <a:spAutoFit/>
          </a:bodyPr>
          <a:lstStyle/>
          <a:p>
            <a:pPr algn="ctr">
              <a:lnSpc>
                <a:spcPts val="7528"/>
              </a:lnSpc>
            </a:pPr>
            <a:r>
              <a:rPr lang="en-US" sz="8555" spc="-453">
                <a:solidFill>
                  <a:srgbClr val="262262"/>
                </a:solidFill>
                <a:latin typeface="Lexend Deca"/>
                <a:ea typeface="Lexend Deca"/>
                <a:cs typeface="Lexend Deca"/>
                <a:sym typeface="Lexend Deca"/>
              </a:rPr>
              <a:t>Smart Air-Quality Monitoring using Low-cost sensors</a:t>
            </a:r>
          </a:p>
        </p:txBody>
      </p:sp>
      <p:sp>
        <p:nvSpPr>
          <p:cNvPr name="Freeform 4" id="4"/>
          <p:cNvSpPr/>
          <p:nvPr/>
        </p:nvSpPr>
        <p:spPr>
          <a:xfrm flipH="false" flipV="false" rot="0">
            <a:off x="0" y="4612301"/>
            <a:ext cx="6668983" cy="5674699"/>
          </a:xfrm>
          <a:custGeom>
            <a:avLst/>
            <a:gdLst/>
            <a:ahLst/>
            <a:cxnLst/>
            <a:rect r="r" b="b" t="t" l="l"/>
            <a:pathLst>
              <a:path h="5674699" w="6668983">
                <a:moveTo>
                  <a:pt x="0" y="0"/>
                </a:moveTo>
                <a:lnTo>
                  <a:pt x="6668983" y="0"/>
                </a:lnTo>
                <a:lnTo>
                  <a:pt x="6668983" y="5674699"/>
                </a:lnTo>
                <a:lnTo>
                  <a:pt x="0" y="5674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2700000">
            <a:off x="1159751" y="1159751"/>
            <a:ext cx="632770" cy="632770"/>
            <a:chOff x="0" y="0"/>
            <a:chExt cx="166656" cy="166656"/>
          </a:xfrm>
        </p:grpSpPr>
        <p:sp>
          <p:nvSpPr>
            <p:cNvPr name="Freeform 6" id="6"/>
            <p:cNvSpPr/>
            <p:nvPr/>
          </p:nvSpPr>
          <p:spPr>
            <a:xfrm flipH="false" flipV="false" rot="0">
              <a:off x="0" y="0"/>
              <a:ext cx="166656" cy="166656"/>
            </a:xfrm>
            <a:custGeom>
              <a:avLst/>
              <a:gdLst/>
              <a:ahLst/>
              <a:cxnLst/>
              <a:rect r="r" b="b" t="t" l="l"/>
              <a:pathLst>
                <a:path h="166656" w="166656">
                  <a:moveTo>
                    <a:pt x="0" y="0"/>
                  </a:moveTo>
                  <a:lnTo>
                    <a:pt x="166656" y="0"/>
                  </a:lnTo>
                  <a:lnTo>
                    <a:pt x="166656" y="166656"/>
                  </a:lnTo>
                  <a:lnTo>
                    <a:pt x="0" y="166656"/>
                  </a:lnTo>
                  <a:close/>
                </a:path>
              </a:pathLst>
            </a:custGeom>
            <a:solidFill>
              <a:srgbClr val="00AEEF"/>
            </a:solidFill>
          </p:spPr>
        </p:sp>
        <p:sp>
          <p:nvSpPr>
            <p:cNvPr name="TextBox 7" id="7"/>
            <p:cNvSpPr txBox="true"/>
            <p:nvPr/>
          </p:nvSpPr>
          <p:spPr>
            <a:xfrm>
              <a:off x="0" y="28575"/>
              <a:ext cx="166656" cy="138081"/>
            </a:xfrm>
            <a:prstGeom prst="rect">
              <a:avLst/>
            </a:prstGeom>
          </p:spPr>
          <p:txBody>
            <a:bodyPr anchor="ctr" rtlCol="false" tIns="50800" lIns="50800" bIns="50800" rIns="50800"/>
            <a:lstStyle/>
            <a:p>
              <a:pPr algn="ctr">
                <a:lnSpc>
                  <a:spcPts val="1935"/>
                </a:lnSpc>
              </a:pPr>
            </a:p>
          </p:txBody>
        </p:sp>
      </p:grpSp>
      <p:grpSp>
        <p:nvGrpSpPr>
          <p:cNvPr name="Group 8" id="8"/>
          <p:cNvGrpSpPr/>
          <p:nvPr/>
        </p:nvGrpSpPr>
        <p:grpSpPr>
          <a:xfrm rot="-2700000">
            <a:off x="16495478" y="1159751"/>
            <a:ext cx="632770" cy="632770"/>
            <a:chOff x="0" y="0"/>
            <a:chExt cx="166656" cy="166656"/>
          </a:xfrm>
        </p:grpSpPr>
        <p:sp>
          <p:nvSpPr>
            <p:cNvPr name="Freeform 9" id="9"/>
            <p:cNvSpPr/>
            <p:nvPr/>
          </p:nvSpPr>
          <p:spPr>
            <a:xfrm flipH="false" flipV="false" rot="0">
              <a:off x="0" y="0"/>
              <a:ext cx="166656" cy="166656"/>
            </a:xfrm>
            <a:custGeom>
              <a:avLst/>
              <a:gdLst/>
              <a:ahLst/>
              <a:cxnLst/>
              <a:rect r="r" b="b" t="t" l="l"/>
              <a:pathLst>
                <a:path h="166656" w="166656">
                  <a:moveTo>
                    <a:pt x="0" y="0"/>
                  </a:moveTo>
                  <a:lnTo>
                    <a:pt x="166656" y="0"/>
                  </a:lnTo>
                  <a:lnTo>
                    <a:pt x="166656" y="166656"/>
                  </a:lnTo>
                  <a:lnTo>
                    <a:pt x="0" y="166656"/>
                  </a:lnTo>
                  <a:close/>
                </a:path>
              </a:pathLst>
            </a:custGeom>
            <a:solidFill>
              <a:srgbClr val="00AEEF"/>
            </a:solidFill>
          </p:spPr>
        </p:sp>
        <p:sp>
          <p:nvSpPr>
            <p:cNvPr name="TextBox 10" id="10"/>
            <p:cNvSpPr txBox="true"/>
            <p:nvPr/>
          </p:nvSpPr>
          <p:spPr>
            <a:xfrm>
              <a:off x="0" y="28575"/>
              <a:ext cx="166656" cy="138081"/>
            </a:xfrm>
            <a:prstGeom prst="rect">
              <a:avLst/>
            </a:prstGeom>
          </p:spPr>
          <p:txBody>
            <a:bodyPr anchor="ctr" rtlCol="false" tIns="50800" lIns="50800" bIns="50800" rIns="50800"/>
            <a:lstStyle/>
            <a:p>
              <a:pPr algn="ctr">
                <a:lnSpc>
                  <a:spcPts val="1935"/>
                </a:lnSpc>
              </a:pPr>
            </a:p>
          </p:txBody>
        </p:sp>
      </p:grpSp>
      <p:sp>
        <p:nvSpPr>
          <p:cNvPr name="TextBox 11" id="11"/>
          <p:cNvSpPr txBox="true"/>
          <p:nvPr/>
        </p:nvSpPr>
        <p:spPr>
          <a:xfrm rot="0">
            <a:off x="6314502" y="1270548"/>
            <a:ext cx="5304514" cy="1334882"/>
          </a:xfrm>
          <a:prstGeom prst="rect">
            <a:avLst/>
          </a:prstGeom>
        </p:spPr>
        <p:txBody>
          <a:bodyPr anchor="t" rtlCol="false" tIns="0" lIns="0" bIns="0" rIns="0">
            <a:spAutoFit/>
          </a:bodyPr>
          <a:lstStyle/>
          <a:p>
            <a:pPr algn="ctr">
              <a:lnSpc>
                <a:spcPts val="3500"/>
              </a:lnSpc>
            </a:pPr>
            <a:r>
              <a:rPr lang="en-US" sz="3365" spc="-178">
                <a:solidFill>
                  <a:srgbClr val="262262"/>
                </a:solidFill>
                <a:latin typeface="Lexend Deca"/>
                <a:ea typeface="Lexend Deca"/>
                <a:cs typeface="Lexend Deca"/>
                <a:sym typeface="Lexend Deca"/>
              </a:rPr>
              <a:t>ECOLOGY-PROJECT</a:t>
            </a:r>
          </a:p>
          <a:p>
            <a:pPr algn="ctr">
              <a:lnSpc>
                <a:spcPts val="3500"/>
              </a:lnSpc>
            </a:pPr>
            <a:r>
              <a:rPr lang="en-US" sz="3365" spc="-178">
                <a:solidFill>
                  <a:srgbClr val="262262"/>
                </a:solidFill>
                <a:latin typeface="Lexend Deca"/>
                <a:ea typeface="Lexend Deca"/>
                <a:cs typeface="Lexend Deca"/>
                <a:sym typeface="Lexend Deca"/>
              </a:rPr>
              <a:t>- Group - 9</a:t>
            </a:r>
          </a:p>
          <a:p>
            <a:pPr algn="ctr">
              <a:lnSpc>
                <a:spcPts val="3500"/>
              </a:lnSpc>
            </a:pPr>
          </a:p>
        </p:txBody>
      </p:sp>
      <p:sp>
        <p:nvSpPr>
          <p:cNvPr name="TextBox 12" id="12"/>
          <p:cNvSpPr txBox="true"/>
          <p:nvPr/>
        </p:nvSpPr>
        <p:spPr>
          <a:xfrm rot="0">
            <a:off x="7995445" y="7904717"/>
            <a:ext cx="2525783" cy="329534"/>
          </a:xfrm>
          <a:prstGeom prst="rect">
            <a:avLst/>
          </a:prstGeom>
        </p:spPr>
        <p:txBody>
          <a:bodyPr anchor="t" rtlCol="false" tIns="0" lIns="0" bIns="0" rIns="0">
            <a:spAutoFit/>
          </a:bodyPr>
          <a:lstStyle/>
          <a:p>
            <a:pPr algn="ctr">
              <a:lnSpc>
                <a:spcPts val="2579"/>
              </a:lnSpc>
            </a:pPr>
            <a:r>
              <a:rPr lang="en-US" sz="2479" spc="-131">
                <a:solidFill>
                  <a:srgbClr val="262262"/>
                </a:solidFill>
                <a:latin typeface="Lexend Deca"/>
                <a:ea typeface="Lexend Deca"/>
                <a:cs typeface="Lexend Deca"/>
                <a:sym typeface="Lexend Deca"/>
              </a:rPr>
              <a:t>6-MAY 2025</a:t>
            </a:r>
          </a:p>
        </p:txBody>
      </p:sp>
      <p:sp>
        <p:nvSpPr>
          <p:cNvPr name="Freeform 13" id="13"/>
          <p:cNvSpPr/>
          <p:nvPr/>
        </p:nvSpPr>
        <p:spPr>
          <a:xfrm flipH="false" flipV="false" rot="0">
            <a:off x="2405356" y="4130732"/>
            <a:ext cx="929135" cy="187516"/>
          </a:xfrm>
          <a:custGeom>
            <a:avLst/>
            <a:gdLst/>
            <a:ahLst/>
            <a:cxnLst/>
            <a:rect r="r" b="b" t="t" l="l"/>
            <a:pathLst>
              <a:path h="187516" w="929135">
                <a:moveTo>
                  <a:pt x="0" y="0"/>
                </a:moveTo>
                <a:lnTo>
                  <a:pt x="929136" y="0"/>
                </a:lnTo>
                <a:lnTo>
                  <a:pt x="929136" y="187516"/>
                </a:lnTo>
                <a:lnTo>
                  <a:pt x="0" y="187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5182180" y="4130732"/>
            <a:ext cx="929135" cy="187516"/>
          </a:xfrm>
          <a:custGeom>
            <a:avLst/>
            <a:gdLst/>
            <a:ahLst/>
            <a:cxnLst/>
            <a:rect r="r" b="b" t="t" l="l"/>
            <a:pathLst>
              <a:path h="187516" w="929135">
                <a:moveTo>
                  <a:pt x="0" y="0"/>
                </a:moveTo>
                <a:lnTo>
                  <a:pt x="929136" y="0"/>
                </a:lnTo>
                <a:lnTo>
                  <a:pt x="929136" y="187516"/>
                </a:lnTo>
                <a:lnTo>
                  <a:pt x="0" y="187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2700000">
            <a:off x="8650374" y="8759779"/>
            <a:ext cx="632770" cy="632770"/>
            <a:chOff x="0" y="0"/>
            <a:chExt cx="166656" cy="166656"/>
          </a:xfrm>
        </p:grpSpPr>
        <p:sp>
          <p:nvSpPr>
            <p:cNvPr name="Freeform 16" id="16"/>
            <p:cNvSpPr/>
            <p:nvPr/>
          </p:nvSpPr>
          <p:spPr>
            <a:xfrm flipH="false" flipV="false" rot="0">
              <a:off x="0" y="0"/>
              <a:ext cx="166656" cy="166656"/>
            </a:xfrm>
            <a:custGeom>
              <a:avLst/>
              <a:gdLst/>
              <a:ahLst/>
              <a:cxnLst/>
              <a:rect r="r" b="b" t="t" l="l"/>
              <a:pathLst>
                <a:path h="166656" w="166656">
                  <a:moveTo>
                    <a:pt x="0" y="0"/>
                  </a:moveTo>
                  <a:lnTo>
                    <a:pt x="166656" y="0"/>
                  </a:lnTo>
                  <a:lnTo>
                    <a:pt x="166656" y="166656"/>
                  </a:lnTo>
                  <a:lnTo>
                    <a:pt x="0" y="166656"/>
                  </a:lnTo>
                  <a:close/>
                </a:path>
              </a:pathLst>
            </a:custGeom>
            <a:solidFill>
              <a:srgbClr val="00AEEF"/>
            </a:solidFill>
          </p:spPr>
        </p:sp>
        <p:sp>
          <p:nvSpPr>
            <p:cNvPr name="TextBox 17" id="17"/>
            <p:cNvSpPr txBox="true"/>
            <p:nvPr/>
          </p:nvSpPr>
          <p:spPr>
            <a:xfrm>
              <a:off x="0" y="28575"/>
              <a:ext cx="166656" cy="138081"/>
            </a:xfrm>
            <a:prstGeom prst="rect">
              <a:avLst/>
            </a:prstGeom>
          </p:spPr>
          <p:txBody>
            <a:bodyPr anchor="ctr" rtlCol="false" tIns="50800" lIns="50800" bIns="50800" rIns="50800"/>
            <a:lstStyle/>
            <a:p>
              <a:pPr algn="ctr">
                <a:lnSpc>
                  <a:spcPts val="1935"/>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Corner Geometric Shape Illustration"/>
          <p:cNvSpPr/>
          <p:nvPr/>
        </p:nvSpPr>
        <p:spPr>
          <a:xfrm flipH="false" flipV="false" rot="5400000">
            <a:off x="496957" y="-496957"/>
            <a:ext cx="3120887" cy="4114800"/>
          </a:xfrm>
          <a:custGeom>
            <a:avLst/>
            <a:gdLst/>
            <a:ahLst/>
            <a:cxnLst/>
            <a:rect r="r" b="b" t="t" l="l"/>
            <a:pathLst>
              <a:path h="4114800" w="3120887">
                <a:moveTo>
                  <a:pt x="0" y="0"/>
                </a:moveTo>
                <a:lnTo>
                  <a:pt x="3120886" y="0"/>
                </a:lnTo>
                <a:lnTo>
                  <a:pt x="312088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descr="Corner Geometric Shape Illustration"/>
          <p:cNvSpPr/>
          <p:nvPr/>
        </p:nvSpPr>
        <p:spPr>
          <a:xfrm flipH="false" flipV="false" rot="-10800000">
            <a:off x="15167113" y="0"/>
            <a:ext cx="3120887" cy="4114800"/>
          </a:xfrm>
          <a:custGeom>
            <a:avLst/>
            <a:gdLst/>
            <a:ahLst/>
            <a:cxnLst/>
            <a:rect r="r" b="b" t="t" l="l"/>
            <a:pathLst>
              <a:path h="4114800" w="3120887">
                <a:moveTo>
                  <a:pt x="0" y="0"/>
                </a:moveTo>
                <a:lnTo>
                  <a:pt x="3120887" y="0"/>
                </a:lnTo>
                <a:lnTo>
                  <a:pt x="312088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descr="Buildable Instagram UI Three Dots Icon"/>
          <p:cNvSpPr/>
          <p:nvPr/>
        </p:nvSpPr>
        <p:spPr>
          <a:xfrm flipH="false" flipV="false" rot="0">
            <a:off x="13303007" y="1203325"/>
            <a:ext cx="929135" cy="187516"/>
          </a:xfrm>
          <a:custGeom>
            <a:avLst/>
            <a:gdLst/>
            <a:ahLst/>
            <a:cxnLst/>
            <a:rect r="r" b="b" t="t" l="l"/>
            <a:pathLst>
              <a:path h="187516" w="929135">
                <a:moveTo>
                  <a:pt x="0" y="0"/>
                </a:moveTo>
                <a:lnTo>
                  <a:pt x="929135" y="0"/>
                </a:lnTo>
                <a:lnTo>
                  <a:pt x="929135" y="187516"/>
                </a:lnTo>
                <a:lnTo>
                  <a:pt x="0" y="187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2700000">
            <a:off x="8827615" y="8494478"/>
            <a:ext cx="632770" cy="632770"/>
            <a:chOff x="0" y="0"/>
            <a:chExt cx="166656" cy="166656"/>
          </a:xfrm>
        </p:grpSpPr>
        <p:sp>
          <p:nvSpPr>
            <p:cNvPr name="Freeform 6" id="6"/>
            <p:cNvSpPr/>
            <p:nvPr/>
          </p:nvSpPr>
          <p:spPr>
            <a:xfrm flipH="false" flipV="false" rot="0">
              <a:off x="0" y="0"/>
              <a:ext cx="166656" cy="166656"/>
            </a:xfrm>
            <a:custGeom>
              <a:avLst/>
              <a:gdLst/>
              <a:ahLst/>
              <a:cxnLst/>
              <a:rect r="r" b="b" t="t" l="l"/>
              <a:pathLst>
                <a:path h="166656" w="166656">
                  <a:moveTo>
                    <a:pt x="0" y="0"/>
                  </a:moveTo>
                  <a:lnTo>
                    <a:pt x="166656" y="0"/>
                  </a:lnTo>
                  <a:lnTo>
                    <a:pt x="166656" y="166656"/>
                  </a:lnTo>
                  <a:lnTo>
                    <a:pt x="0" y="166656"/>
                  </a:lnTo>
                  <a:close/>
                </a:path>
              </a:pathLst>
            </a:custGeom>
            <a:solidFill>
              <a:srgbClr val="00AEEF"/>
            </a:solidFill>
          </p:spPr>
        </p:sp>
        <p:sp>
          <p:nvSpPr>
            <p:cNvPr name="TextBox 7" id="7"/>
            <p:cNvSpPr txBox="true"/>
            <p:nvPr/>
          </p:nvSpPr>
          <p:spPr>
            <a:xfrm>
              <a:off x="0" y="28575"/>
              <a:ext cx="166656" cy="138081"/>
            </a:xfrm>
            <a:prstGeom prst="rect">
              <a:avLst/>
            </a:prstGeom>
          </p:spPr>
          <p:txBody>
            <a:bodyPr anchor="ctr" rtlCol="false" tIns="50800" lIns="50800" bIns="50800" rIns="50800"/>
            <a:lstStyle/>
            <a:p>
              <a:pPr algn="ctr">
                <a:lnSpc>
                  <a:spcPts val="1935"/>
                </a:lnSpc>
              </a:pPr>
            </a:p>
          </p:txBody>
        </p:sp>
      </p:grpSp>
      <p:pic>
        <p:nvPicPr>
          <p:cNvPr name="Picture 8" id="8"/>
          <p:cNvPicPr>
            <a:picLocks noChangeAspect="true"/>
          </p:cNvPicPr>
          <p:nvPr/>
        </p:nvPicPr>
        <p:blipFill>
          <a:blip r:embed="rId6"/>
          <a:stretch>
            <a:fillRect/>
          </a:stretch>
        </p:blipFill>
        <p:spPr>
          <a:xfrm rot="0">
            <a:off x="1695292" y="7033214"/>
            <a:ext cx="4345300" cy="1922795"/>
          </a:xfrm>
          <a:prstGeom prst="rect">
            <a:avLst/>
          </a:prstGeom>
        </p:spPr>
      </p:pic>
      <p:pic>
        <p:nvPicPr>
          <p:cNvPr name="Picture 9" id="9"/>
          <p:cNvPicPr>
            <a:picLocks noChangeAspect="true"/>
          </p:cNvPicPr>
          <p:nvPr/>
        </p:nvPicPr>
        <p:blipFill>
          <a:blip r:embed="rId7"/>
          <a:stretch>
            <a:fillRect/>
          </a:stretch>
        </p:blipFill>
        <p:spPr>
          <a:xfrm rot="0">
            <a:off x="1695292" y="4322349"/>
            <a:ext cx="4345300" cy="1454786"/>
          </a:xfrm>
          <a:prstGeom prst="rect">
            <a:avLst/>
          </a:prstGeom>
        </p:spPr>
      </p:pic>
      <p:sp>
        <p:nvSpPr>
          <p:cNvPr name="TextBox 10" id="10"/>
          <p:cNvSpPr txBox="true"/>
          <p:nvPr/>
        </p:nvSpPr>
        <p:spPr>
          <a:xfrm rot="0">
            <a:off x="6159401" y="644524"/>
            <a:ext cx="5969198" cy="1203326"/>
          </a:xfrm>
          <a:prstGeom prst="rect">
            <a:avLst/>
          </a:prstGeom>
        </p:spPr>
        <p:txBody>
          <a:bodyPr anchor="t" rtlCol="false" tIns="0" lIns="0" bIns="0" rIns="0">
            <a:spAutoFit/>
          </a:bodyPr>
          <a:lstStyle/>
          <a:p>
            <a:pPr algn="l" marL="0" indent="0" lvl="0">
              <a:lnSpc>
                <a:spcPts val="9350"/>
              </a:lnSpc>
            </a:pPr>
            <a:r>
              <a:rPr lang="en-US" sz="8500" spc="-450">
                <a:solidFill>
                  <a:srgbClr val="262262"/>
                </a:solidFill>
                <a:latin typeface="Lexend Deca"/>
                <a:ea typeface="Lexend Deca"/>
                <a:cs typeface="Lexend Deca"/>
                <a:sym typeface="Lexend Deca"/>
              </a:rPr>
              <a:t>Contributors</a:t>
            </a:r>
          </a:p>
        </p:txBody>
      </p:sp>
      <p:sp>
        <p:nvSpPr>
          <p:cNvPr name="TextBox 11" id="11"/>
          <p:cNvSpPr txBox="true"/>
          <p:nvPr/>
        </p:nvSpPr>
        <p:spPr>
          <a:xfrm rot="0">
            <a:off x="1831930" y="3044687"/>
            <a:ext cx="4327471" cy="1384301"/>
          </a:xfrm>
          <a:prstGeom prst="rect">
            <a:avLst/>
          </a:prstGeom>
        </p:spPr>
        <p:txBody>
          <a:bodyPr anchor="t" rtlCol="false" tIns="0" lIns="0" bIns="0" rIns="0">
            <a:spAutoFit/>
          </a:bodyPr>
          <a:lstStyle/>
          <a:p>
            <a:pPr algn="l" marL="0" indent="0" lvl="0">
              <a:lnSpc>
                <a:spcPts val="5599"/>
              </a:lnSpc>
              <a:spcBef>
                <a:spcPct val="0"/>
              </a:spcBef>
            </a:pPr>
            <a:r>
              <a:rPr lang="en-US" sz="3999" spc="-211">
                <a:solidFill>
                  <a:srgbClr val="262262"/>
                </a:solidFill>
                <a:latin typeface="Lexend Deca"/>
                <a:ea typeface="Lexend Deca"/>
                <a:cs typeface="Lexend Deca"/>
                <a:sym typeface="Lexend Deca"/>
              </a:rPr>
              <a:t>Hardware development team</a:t>
            </a:r>
          </a:p>
        </p:txBody>
      </p:sp>
      <p:sp>
        <p:nvSpPr>
          <p:cNvPr name="TextBox 12" id="12"/>
          <p:cNvSpPr txBox="true"/>
          <p:nvPr/>
        </p:nvSpPr>
        <p:spPr>
          <a:xfrm rot="0">
            <a:off x="7456113" y="3448309"/>
            <a:ext cx="4270646" cy="700881"/>
          </a:xfrm>
          <a:prstGeom prst="rect">
            <a:avLst/>
          </a:prstGeom>
        </p:spPr>
        <p:txBody>
          <a:bodyPr anchor="t" rtlCol="false" tIns="0" lIns="0" bIns="0" rIns="0">
            <a:spAutoFit/>
          </a:bodyPr>
          <a:lstStyle/>
          <a:p>
            <a:pPr algn="l" marL="0" indent="0" lvl="0">
              <a:lnSpc>
                <a:spcPts val="5431"/>
              </a:lnSpc>
            </a:pPr>
            <a:r>
              <a:rPr lang="en-US" sz="4937" spc="-261">
                <a:solidFill>
                  <a:srgbClr val="262262"/>
                </a:solidFill>
                <a:latin typeface="Lexend Deca"/>
                <a:ea typeface="Lexend Deca"/>
                <a:cs typeface="Lexend Deca"/>
                <a:sym typeface="Lexend Deca"/>
              </a:rPr>
              <a:t>8</a:t>
            </a:r>
            <a:r>
              <a:rPr lang="en-US" sz="4937" spc="-261">
                <a:solidFill>
                  <a:srgbClr val="262262"/>
                </a:solidFill>
                <a:latin typeface="Lexend Deca"/>
                <a:ea typeface="Lexend Deca"/>
                <a:cs typeface="Lexend Deca"/>
                <a:sym typeface="Lexend Deca"/>
              </a:rPr>
              <a:t> out of 17</a:t>
            </a:r>
          </a:p>
        </p:txBody>
      </p:sp>
      <p:sp>
        <p:nvSpPr>
          <p:cNvPr name="TextBox 13" id="13"/>
          <p:cNvSpPr txBox="true"/>
          <p:nvPr/>
        </p:nvSpPr>
        <p:spPr>
          <a:xfrm rot="0">
            <a:off x="7456113" y="6269200"/>
            <a:ext cx="4270646" cy="700881"/>
          </a:xfrm>
          <a:prstGeom prst="rect">
            <a:avLst/>
          </a:prstGeom>
        </p:spPr>
        <p:txBody>
          <a:bodyPr anchor="t" rtlCol="false" tIns="0" lIns="0" bIns="0" rIns="0">
            <a:spAutoFit/>
          </a:bodyPr>
          <a:lstStyle/>
          <a:p>
            <a:pPr algn="l" marL="0" indent="0" lvl="0">
              <a:lnSpc>
                <a:spcPts val="5431"/>
              </a:lnSpc>
            </a:pPr>
            <a:r>
              <a:rPr lang="en-US" sz="4937" spc="-261">
                <a:solidFill>
                  <a:srgbClr val="262262"/>
                </a:solidFill>
                <a:latin typeface="Lexend Deca"/>
                <a:ea typeface="Lexend Deca"/>
                <a:cs typeface="Lexend Deca"/>
                <a:sym typeface="Lexend Deca"/>
              </a:rPr>
              <a:t>9 out of 17</a:t>
            </a:r>
          </a:p>
        </p:txBody>
      </p:sp>
      <p:grpSp>
        <p:nvGrpSpPr>
          <p:cNvPr name="Group 14" id="14"/>
          <p:cNvGrpSpPr/>
          <p:nvPr/>
        </p:nvGrpSpPr>
        <p:grpSpPr>
          <a:xfrm rot="-2700000">
            <a:off x="1093177" y="3207873"/>
            <a:ext cx="311321" cy="311321"/>
            <a:chOff x="0" y="0"/>
            <a:chExt cx="81994" cy="81994"/>
          </a:xfrm>
        </p:grpSpPr>
        <p:sp>
          <p:nvSpPr>
            <p:cNvPr name="Freeform 15" id="15"/>
            <p:cNvSpPr/>
            <p:nvPr/>
          </p:nvSpPr>
          <p:spPr>
            <a:xfrm flipH="false" flipV="false" rot="0">
              <a:off x="0" y="0"/>
              <a:ext cx="81994" cy="81994"/>
            </a:xfrm>
            <a:custGeom>
              <a:avLst/>
              <a:gdLst/>
              <a:ahLst/>
              <a:cxnLst/>
              <a:rect r="r" b="b" t="t" l="l"/>
              <a:pathLst>
                <a:path h="81994" w="81994">
                  <a:moveTo>
                    <a:pt x="0" y="0"/>
                  </a:moveTo>
                  <a:lnTo>
                    <a:pt x="81994" y="0"/>
                  </a:lnTo>
                  <a:lnTo>
                    <a:pt x="81994" y="81994"/>
                  </a:lnTo>
                  <a:lnTo>
                    <a:pt x="0" y="81994"/>
                  </a:lnTo>
                  <a:close/>
                </a:path>
              </a:pathLst>
            </a:custGeom>
            <a:solidFill>
              <a:srgbClr val="00AEEF"/>
            </a:solidFill>
          </p:spPr>
        </p:sp>
        <p:sp>
          <p:nvSpPr>
            <p:cNvPr name="TextBox 16" id="16"/>
            <p:cNvSpPr txBox="true"/>
            <p:nvPr/>
          </p:nvSpPr>
          <p:spPr>
            <a:xfrm>
              <a:off x="0" y="28575"/>
              <a:ext cx="81994" cy="53419"/>
            </a:xfrm>
            <a:prstGeom prst="rect">
              <a:avLst/>
            </a:prstGeom>
          </p:spPr>
          <p:txBody>
            <a:bodyPr anchor="ctr" rtlCol="false" tIns="50800" lIns="50800" bIns="50800" rIns="50800"/>
            <a:lstStyle/>
            <a:p>
              <a:pPr algn="ctr">
                <a:lnSpc>
                  <a:spcPts val="1935"/>
                </a:lnSpc>
              </a:pPr>
            </a:p>
          </p:txBody>
        </p:sp>
      </p:grpSp>
      <p:sp>
        <p:nvSpPr>
          <p:cNvPr name="TextBox 17" id="17"/>
          <p:cNvSpPr txBox="true"/>
          <p:nvPr/>
        </p:nvSpPr>
        <p:spPr>
          <a:xfrm rot="0">
            <a:off x="1831930" y="5865578"/>
            <a:ext cx="4327471" cy="1384301"/>
          </a:xfrm>
          <a:prstGeom prst="rect">
            <a:avLst/>
          </a:prstGeom>
        </p:spPr>
        <p:txBody>
          <a:bodyPr anchor="t" rtlCol="false" tIns="0" lIns="0" bIns="0" rIns="0">
            <a:spAutoFit/>
          </a:bodyPr>
          <a:lstStyle/>
          <a:p>
            <a:pPr algn="l" marL="0" indent="0" lvl="0">
              <a:lnSpc>
                <a:spcPts val="5599"/>
              </a:lnSpc>
              <a:spcBef>
                <a:spcPct val="0"/>
              </a:spcBef>
            </a:pPr>
            <a:r>
              <a:rPr lang="en-US" sz="3999" spc="-211">
                <a:solidFill>
                  <a:srgbClr val="262262"/>
                </a:solidFill>
                <a:latin typeface="Lexend Deca"/>
                <a:ea typeface="Lexend Deca"/>
                <a:cs typeface="Lexend Deca"/>
                <a:sym typeface="Lexend Deca"/>
              </a:rPr>
              <a:t>Software development team</a:t>
            </a:r>
          </a:p>
        </p:txBody>
      </p:sp>
      <p:grpSp>
        <p:nvGrpSpPr>
          <p:cNvPr name="Group 18" id="18"/>
          <p:cNvGrpSpPr/>
          <p:nvPr/>
        </p:nvGrpSpPr>
        <p:grpSpPr>
          <a:xfrm rot="-2700000">
            <a:off x="1093177" y="6059168"/>
            <a:ext cx="311321" cy="311321"/>
            <a:chOff x="0" y="0"/>
            <a:chExt cx="81994" cy="81994"/>
          </a:xfrm>
        </p:grpSpPr>
        <p:sp>
          <p:nvSpPr>
            <p:cNvPr name="Freeform 19" id="19"/>
            <p:cNvSpPr/>
            <p:nvPr/>
          </p:nvSpPr>
          <p:spPr>
            <a:xfrm flipH="false" flipV="false" rot="0">
              <a:off x="0" y="0"/>
              <a:ext cx="81994" cy="81994"/>
            </a:xfrm>
            <a:custGeom>
              <a:avLst/>
              <a:gdLst/>
              <a:ahLst/>
              <a:cxnLst/>
              <a:rect r="r" b="b" t="t" l="l"/>
              <a:pathLst>
                <a:path h="81994" w="81994">
                  <a:moveTo>
                    <a:pt x="0" y="0"/>
                  </a:moveTo>
                  <a:lnTo>
                    <a:pt x="81994" y="0"/>
                  </a:lnTo>
                  <a:lnTo>
                    <a:pt x="81994" y="81994"/>
                  </a:lnTo>
                  <a:lnTo>
                    <a:pt x="0" y="81994"/>
                  </a:lnTo>
                  <a:close/>
                </a:path>
              </a:pathLst>
            </a:custGeom>
            <a:solidFill>
              <a:srgbClr val="00AEEF"/>
            </a:solidFill>
          </p:spPr>
        </p:sp>
        <p:sp>
          <p:nvSpPr>
            <p:cNvPr name="TextBox 20" id="20"/>
            <p:cNvSpPr txBox="true"/>
            <p:nvPr/>
          </p:nvSpPr>
          <p:spPr>
            <a:xfrm>
              <a:off x="0" y="28575"/>
              <a:ext cx="81994" cy="53419"/>
            </a:xfrm>
            <a:prstGeom prst="rect">
              <a:avLst/>
            </a:prstGeom>
          </p:spPr>
          <p:txBody>
            <a:bodyPr anchor="ctr" rtlCol="false" tIns="50800" lIns="50800" bIns="50800" rIns="50800"/>
            <a:lstStyle/>
            <a:p>
              <a:pPr algn="ctr">
                <a:lnSpc>
                  <a:spcPts val="1935"/>
                </a:lnSpc>
              </a:pPr>
            </a:p>
          </p:txBody>
        </p:sp>
      </p:grpSp>
      <p:sp>
        <p:nvSpPr>
          <p:cNvPr name="Freeform 21" id="21" descr="Buildable Instagram UI Three Dots Icon"/>
          <p:cNvSpPr/>
          <p:nvPr/>
        </p:nvSpPr>
        <p:spPr>
          <a:xfrm flipH="false" flipV="false" rot="0">
            <a:off x="4296816" y="1109566"/>
            <a:ext cx="929135" cy="187516"/>
          </a:xfrm>
          <a:custGeom>
            <a:avLst/>
            <a:gdLst/>
            <a:ahLst/>
            <a:cxnLst/>
            <a:rect r="r" b="b" t="t" l="l"/>
            <a:pathLst>
              <a:path h="187516" w="929135">
                <a:moveTo>
                  <a:pt x="0" y="0"/>
                </a:moveTo>
                <a:lnTo>
                  <a:pt x="929135" y="0"/>
                </a:lnTo>
                <a:lnTo>
                  <a:pt x="929135" y="187517"/>
                </a:lnTo>
                <a:lnTo>
                  <a:pt x="0" y="1875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11167684" y="3334009"/>
            <a:ext cx="6347328" cy="1844055"/>
          </a:xfrm>
          <a:prstGeom prst="rect">
            <a:avLst/>
          </a:prstGeom>
        </p:spPr>
        <p:txBody>
          <a:bodyPr anchor="t" rtlCol="false" tIns="0" lIns="0" bIns="0" rIns="0">
            <a:spAutoFit/>
          </a:bodyPr>
          <a:lstStyle/>
          <a:p>
            <a:pPr algn="l">
              <a:lnSpc>
                <a:spcPts val="4898"/>
              </a:lnSpc>
            </a:pPr>
            <a:r>
              <a:rPr lang="en-US" sz="3498" spc="-185">
                <a:solidFill>
                  <a:srgbClr val="262262"/>
                </a:solidFill>
                <a:latin typeface="Lexend Deca"/>
                <a:ea typeface="Lexend Deca"/>
                <a:cs typeface="Lexend Deca"/>
                <a:sym typeface="Lexend Deca"/>
              </a:rPr>
              <a:t>EE23B044,EE23B011,EE23B025,</a:t>
            </a:r>
          </a:p>
          <a:p>
            <a:pPr algn="l" marL="0" indent="0" lvl="0">
              <a:lnSpc>
                <a:spcPts val="4898"/>
              </a:lnSpc>
              <a:spcBef>
                <a:spcPct val="0"/>
              </a:spcBef>
            </a:pPr>
            <a:r>
              <a:rPr lang="en-US" sz="3498" spc="-185">
                <a:solidFill>
                  <a:srgbClr val="262262"/>
                </a:solidFill>
                <a:latin typeface="Lexend Deca"/>
                <a:ea typeface="Lexend Deca"/>
                <a:cs typeface="Lexend Deca"/>
                <a:sym typeface="Lexend Deca"/>
              </a:rPr>
              <a:t>EE23B024,ME23B039,ME23B040,EE23B012,EE23B009</a:t>
            </a:r>
          </a:p>
        </p:txBody>
      </p:sp>
      <p:sp>
        <p:nvSpPr>
          <p:cNvPr name="TextBox 23" id="23"/>
          <p:cNvSpPr txBox="true"/>
          <p:nvPr/>
        </p:nvSpPr>
        <p:spPr>
          <a:xfrm rot="0">
            <a:off x="11167684" y="6368290"/>
            <a:ext cx="6347328" cy="4332388"/>
          </a:xfrm>
          <a:prstGeom prst="rect">
            <a:avLst/>
          </a:prstGeom>
        </p:spPr>
        <p:txBody>
          <a:bodyPr anchor="t" rtlCol="false" tIns="0" lIns="0" bIns="0" rIns="0">
            <a:spAutoFit/>
          </a:bodyPr>
          <a:lstStyle/>
          <a:p>
            <a:pPr algn="l">
              <a:lnSpc>
                <a:spcPts val="4898"/>
              </a:lnSpc>
            </a:pPr>
            <a:r>
              <a:rPr lang="en-US" sz="3498" spc="-185">
                <a:solidFill>
                  <a:srgbClr val="262262"/>
                </a:solidFill>
                <a:latin typeface="Lexend Deca"/>
                <a:ea typeface="Lexend Deca"/>
                <a:cs typeface="Lexend Deca"/>
                <a:sym typeface="Lexend Deca"/>
              </a:rPr>
              <a:t>CS23B012,CS23B011,CE23B011,</a:t>
            </a:r>
          </a:p>
          <a:p>
            <a:pPr algn="l">
              <a:lnSpc>
                <a:spcPts val="4898"/>
              </a:lnSpc>
            </a:pPr>
            <a:r>
              <a:rPr lang="en-US" sz="3498" spc="-185">
                <a:solidFill>
                  <a:srgbClr val="262262"/>
                </a:solidFill>
                <a:latin typeface="Lexend Deca"/>
                <a:ea typeface="Lexend Deca"/>
                <a:cs typeface="Lexend Deca"/>
                <a:sym typeface="Lexend Deca"/>
              </a:rPr>
              <a:t>CE23B006,CS23B032,EE23B019,</a:t>
            </a:r>
          </a:p>
          <a:p>
            <a:pPr algn="l">
              <a:lnSpc>
                <a:spcPts val="4898"/>
              </a:lnSpc>
            </a:pPr>
            <a:r>
              <a:rPr lang="en-US" sz="3498" spc="-185">
                <a:solidFill>
                  <a:srgbClr val="262262"/>
                </a:solidFill>
                <a:latin typeface="Lexend Deca"/>
                <a:ea typeface="Lexend Deca"/>
                <a:cs typeface="Lexend Deca"/>
                <a:sym typeface="Lexend Deca"/>
              </a:rPr>
              <a:t>EE23B030,EE23B005,CE23B013</a:t>
            </a:r>
          </a:p>
          <a:p>
            <a:pPr algn="l">
              <a:lnSpc>
                <a:spcPts val="4898"/>
              </a:lnSpc>
            </a:pPr>
          </a:p>
          <a:p>
            <a:pPr algn="l">
              <a:lnSpc>
                <a:spcPts val="4898"/>
              </a:lnSpc>
            </a:pPr>
          </a:p>
          <a:p>
            <a:pPr algn="l">
              <a:lnSpc>
                <a:spcPts val="4898"/>
              </a:lnSpc>
            </a:pPr>
          </a:p>
          <a:p>
            <a:pPr algn="l" marL="0" indent="0" lvl="0">
              <a:lnSpc>
                <a:spcPts val="4898"/>
              </a:lnSpc>
              <a:spcBef>
                <a:spcPct val="0"/>
              </a:spcBef>
            </a:pPr>
          </a:p>
        </p:txBody>
      </p:sp>
    </p:spTree>
  </p:cSld>
  <p:clrMapOvr>
    <a:masterClrMapping/>
  </p:clrMapOvr>
  <p:transition spd="fast">
    <p:cover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23214" y="9794530"/>
            <a:ext cx="929135" cy="187516"/>
          </a:xfrm>
          <a:custGeom>
            <a:avLst/>
            <a:gdLst/>
            <a:ahLst/>
            <a:cxnLst/>
            <a:rect r="r" b="b" t="t" l="l"/>
            <a:pathLst>
              <a:path h="187516" w="929135">
                <a:moveTo>
                  <a:pt x="0" y="0"/>
                </a:moveTo>
                <a:lnTo>
                  <a:pt x="929136" y="0"/>
                </a:lnTo>
                <a:lnTo>
                  <a:pt x="929136" y="187516"/>
                </a:lnTo>
                <a:lnTo>
                  <a:pt x="0" y="187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623692" y="0"/>
            <a:ext cx="3664308" cy="4665207"/>
          </a:xfrm>
          <a:custGeom>
            <a:avLst/>
            <a:gdLst/>
            <a:ahLst/>
            <a:cxnLst/>
            <a:rect r="r" b="b" t="t" l="l"/>
            <a:pathLst>
              <a:path h="4665207" w="3664308">
                <a:moveTo>
                  <a:pt x="0" y="0"/>
                </a:moveTo>
                <a:lnTo>
                  <a:pt x="3664308" y="0"/>
                </a:lnTo>
                <a:lnTo>
                  <a:pt x="3664308" y="4665207"/>
                </a:lnTo>
                <a:lnTo>
                  <a:pt x="0" y="46652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8405778"/>
            <a:ext cx="1917970" cy="1917970"/>
          </a:xfrm>
          <a:custGeom>
            <a:avLst/>
            <a:gdLst/>
            <a:ahLst/>
            <a:cxnLst/>
            <a:rect r="r" b="b" t="t" l="l"/>
            <a:pathLst>
              <a:path h="1917970" w="1917970">
                <a:moveTo>
                  <a:pt x="0" y="0"/>
                </a:moveTo>
                <a:lnTo>
                  <a:pt x="1917970" y="0"/>
                </a:lnTo>
                <a:lnTo>
                  <a:pt x="1917970" y="1917970"/>
                </a:lnTo>
                <a:lnTo>
                  <a:pt x="0" y="1917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173576" y="885568"/>
            <a:ext cx="8704652" cy="1107848"/>
          </a:xfrm>
          <a:prstGeom prst="rect">
            <a:avLst/>
          </a:prstGeom>
        </p:spPr>
        <p:txBody>
          <a:bodyPr anchor="t" rtlCol="false" tIns="0" lIns="0" bIns="0" rIns="0">
            <a:spAutoFit/>
          </a:bodyPr>
          <a:lstStyle/>
          <a:p>
            <a:pPr algn="l">
              <a:lnSpc>
                <a:spcPts val="7696"/>
              </a:lnSpc>
            </a:pPr>
            <a:r>
              <a:rPr lang="en-US" sz="9995" spc="-529">
                <a:solidFill>
                  <a:srgbClr val="262262"/>
                </a:solidFill>
                <a:latin typeface="Lexend Deca"/>
                <a:ea typeface="Lexend Deca"/>
                <a:cs typeface="Lexend Deca"/>
                <a:sym typeface="Lexend Deca"/>
              </a:rPr>
              <a:t>Background</a:t>
            </a:r>
          </a:p>
        </p:txBody>
      </p:sp>
      <p:sp>
        <p:nvSpPr>
          <p:cNvPr name="TextBox 6" id="6"/>
          <p:cNvSpPr txBox="true"/>
          <p:nvPr/>
        </p:nvSpPr>
        <p:spPr>
          <a:xfrm rot="0">
            <a:off x="2481900" y="4245889"/>
            <a:ext cx="12141792" cy="1785696"/>
          </a:xfrm>
          <a:prstGeom prst="rect">
            <a:avLst/>
          </a:prstGeom>
        </p:spPr>
        <p:txBody>
          <a:bodyPr anchor="t" rtlCol="false" tIns="0" lIns="0" bIns="0" rIns="0">
            <a:spAutoFit/>
          </a:bodyPr>
          <a:lstStyle/>
          <a:p>
            <a:pPr algn="l">
              <a:lnSpc>
                <a:spcPts val="3546"/>
              </a:lnSpc>
            </a:pPr>
            <a:r>
              <a:rPr lang="en-US" sz="2859" spc="-151">
                <a:solidFill>
                  <a:srgbClr val="262262"/>
                </a:solidFill>
                <a:latin typeface="Lexend Deca"/>
                <a:ea typeface="Lexend Deca"/>
                <a:cs typeface="Lexend Deca"/>
                <a:sym typeface="Lexend Deca"/>
              </a:rPr>
              <a:t>Traditional air quality monitoring stations are often expensive, sparsely located, and unable to provide real-time localized data. This lack of accessibility leaves individuals and communities uninformed about the air they breathe daily.</a:t>
            </a:r>
          </a:p>
        </p:txBody>
      </p:sp>
      <p:sp>
        <p:nvSpPr>
          <p:cNvPr name="Freeform 7" id="7"/>
          <p:cNvSpPr/>
          <p:nvPr/>
        </p:nvSpPr>
        <p:spPr>
          <a:xfrm flipH="false" flipV="false" rot="0">
            <a:off x="13092829" y="475993"/>
            <a:ext cx="929135" cy="187516"/>
          </a:xfrm>
          <a:custGeom>
            <a:avLst/>
            <a:gdLst/>
            <a:ahLst/>
            <a:cxnLst/>
            <a:rect r="r" b="b" t="t" l="l"/>
            <a:pathLst>
              <a:path h="187516" w="929135">
                <a:moveTo>
                  <a:pt x="0" y="0"/>
                </a:moveTo>
                <a:lnTo>
                  <a:pt x="929135" y="0"/>
                </a:lnTo>
                <a:lnTo>
                  <a:pt x="929135" y="187517"/>
                </a:lnTo>
                <a:lnTo>
                  <a:pt x="0" y="1875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642074" y="2588587"/>
            <a:ext cx="13305239" cy="1785707"/>
          </a:xfrm>
          <a:prstGeom prst="rect">
            <a:avLst/>
          </a:prstGeom>
        </p:spPr>
        <p:txBody>
          <a:bodyPr anchor="t" rtlCol="false" tIns="0" lIns="0" bIns="0" rIns="0">
            <a:spAutoFit/>
          </a:bodyPr>
          <a:lstStyle/>
          <a:p>
            <a:pPr algn="l">
              <a:lnSpc>
                <a:spcPts val="3543"/>
              </a:lnSpc>
            </a:pPr>
            <a:r>
              <a:rPr lang="en-US" sz="2857" spc="-151">
                <a:solidFill>
                  <a:srgbClr val="262262"/>
                </a:solidFill>
                <a:latin typeface="Lexend Deca"/>
                <a:ea typeface="Lexend Deca"/>
                <a:cs typeface="Lexend Deca"/>
                <a:sym typeface="Lexend Deca"/>
              </a:rPr>
              <a:t>Air pollution is a growing concern worldwide, affecting human health, ecosystems, and overall quality of life. Urbanization, industrialization, and vehicular emissions contribute to rising levels of harmful pollutants like PM10, PM2.5, NO₂, CO and NH₃. </a:t>
            </a:r>
          </a:p>
          <a:p>
            <a:pPr algn="l">
              <a:lnSpc>
                <a:spcPts val="3543"/>
              </a:lnSpc>
            </a:pPr>
          </a:p>
        </p:txBody>
      </p:sp>
      <p:grpSp>
        <p:nvGrpSpPr>
          <p:cNvPr name="Group 9" id="9"/>
          <p:cNvGrpSpPr/>
          <p:nvPr/>
        </p:nvGrpSpPr>
        <p:grpSpPr>
          <a:xfrm rot="-2700000">
            <a:off x="1216010" y="2730143"/>
            <a:ext cx="204886" cy="204886"/>
            <a:chOff x="0" y="0"/>
            <a:chExt cx="53962" cy="53962"/>
          </a:xfrm>
        </p:grpSpPr>
        <p:sp>
          <p:nvSpPr>
            <p:cNvPr name="Freeform 10" id="10"/>
            <p:cNvSpPr/>
            <p:nvPr/>
          </p:nvSpPr>
          <p:spPr>
            <a:xfrm flipH="false" flipV="false" rot="0">
              <a:off x="0" y="0"/>
              <a:ext cx="53962" cy="53962"/>
            </a:xfrm>
            <a:custGeom>
              <a:avLst/>
              <a:gdLst/>
              <a:ahLst/>
              <a:cxnLst/>
              <a:rect r="r" b="b" t="t" l="l"/>
              <a:pathLst>
                <a:path h="53962" w="53962">
                  <a:moveTo>
                    <a:pt x="0" y="0"/>
                  </a:moveTo>
                  <a:lnTo>
                    <a:pt x="53962" y="0"/>
                  </a:lnTo>
                  <a:lnTo>
                    <a:pt x="53962" y="53962"/>
                  </a:lnTo>
                  <a:lnTo>
                    <a:pt x="0" y="53962"/>
                  </a:lnTo>
                  <a:close/>
                </a:path>
              </a:pathLst>
            </a:custGeom>
            <a:solidFill>
              <a:srgbClr val="00AEEF"/>
            </a:solidFill>
          </p:spPr>
        </p:sp>
        <p:sp>
          <p:nvSpPr>
            <p:cNvPr name="TextBox 11" id="11"/>
            <p:cNvSpPr txBox="true"/>
            <p:nvPr/>
          </p:nvSpPr>
          <p:spPr>
            <a:xfrm>
              <a:off x="0" y="28575"/>
              <a:ext cx="53962" cy="25387"/>
            </a:xfrm>
            <a:prstGeom prst="rect">
              <a:avLst/>
            </a:prstGeom>
          </p:spPr>
          <p:txBody>
            <a:bodyPr anchor="ctr" rtlCol="false" tIns="50800" lIns="50800" bIns="50800" rIns="50800"/>
            <a:lstStyle/>
            <a:p>
              <a:pPr algn="ctr">
                <a:lnSpc>
                  <a:spcPts val="1935"/>
                </a:lnSpc>
              </a:pPr>
            </a:p>
          </p:txBody>
        </p:sp>
      </p:grpSp>
      <p:grpSp>
        <p:nvGrpSpPr>
          <p:cNvPr name="Group 12" id="12"/>
          <p:cNvGrpSpPr/>
          <p:nvPr/>
        </p:nvGrpSpPr>
        <p:grpSpPr>
          <a:xfrm rot="-2700000">
            <a:off x="3230215" y="6420359"/>
            <a:ext cx="204886" cy="204886"/>
            <a:chOff x="0" y="0"/>
            <a:chExt cx="53962" cy="53962"/>
          </a:xfrm>
        </p:grpSpPr>
        <p:sp>
          <p:nvSpPr>
            <p:cNvPr name="Freeform 13" id="13"/>
            <p:cNvSpPr/>
            <p:nvPr/>
          </p:nvSpPr>
          <p:spPr>
            <a:xfrm flipH="false" flipV="false" rot="0">
              <a:off x="0" y="0"/>
              <a:ext cx="53962" cy="53962"/>
            </a:xfrm>
            <a:custGeom>
              <a:avLst/>
              <a:gdLst/>
              <a:ahLst/>
              <a:cxnLst/>
              <a:rect r="r" b="b" t="t" l="l"/>
              <a:pathLst>
                <a:path h="53962" w="53962">
                  <a:moveTo>
                    <a:pt x="0" y="0"/>
                  </a:moveTo>
                  <a:lnTo>
                    <a:pt x="53962" y="0"/>
                  </a:lnTo>
                  <a:lnTo>
                    <a:pt x="53962" y="53962"/>
                  </a:lnTo>
                  <a:lnTo>
                    <a:pt x="0" y="53962"/>
                  </a:lnTo>
                  <a:close/>
                </a:path>
              </a:pathLst>
            </a:custGeom>
            <a:solidFill>
              <a:srgbClr val="00AEEF"/>
            </a:solidFill>
          </p:spPr>
        </p:sp>
        <p:sp>
          <p:nvSpPr>
            <p:cNvPr name="TextBox 14" id="14"/>
            <p:cNvSpPr txBox="true"/>
            <p:nvPr/>
          </p:nvSpPr>
          <p:spPr>
            <a:xfrm>
              <a:off x="0" y="28575"/>
              <a:ext cx="53962" cy="25387"/>
            </a:xfrm>
            <a:prstGeom prst="rect">
              <a:avLst/>
            </a:prstGeom>
          </p:spPr>
          <p:txBody>
            <a:bodyPr anchor="ctr" rtlCol="false" tIns="50800" lIns="50800" bIns="50800" rIns="50800"/>
            <a:lstStyle/>
            <a:p>
              <a:pPr algn="ctr">
                <a:lnSpc>
                  <a:spcPts val="1935"/>
                </a:lnSpc>
              </a:pPr>
            </a:p>
          </p:txBody>
        </p:sp>
      </p:grpSp>
      <p:sp>
        <p:nvSpPr>
          <p:cNvPr name="TextBox 15" id="15"/>
          <p:cNvSpPr txBox="true"/>
          <p:nvPr/>
        </p:nvSpPr>
        <p:spPr>
          <a:xfrm rot="0">
            <a:off x="3652350" y="6300591"/>
            <a:ext cx="12141792" cy="2233371"/>
          </a:xfrm>
          <a:prstGeom prst="rect">
            <a:avLst/>
          </a:prstGeom>
        </p:spPr>
        <p:txBody>
          <a:bodyPr anchor="t" rtlCol="false" tIns="0" lIns="0" bIns="0" rIns="0">
            <a:spAutoFit/>
          </a:bodyPr>
          <a:lstStyle/>
          <a:p>
            <a:pPr algn="l">
              <a:lnSpc>
                <a:spcPts val="3546"/>
              </a:lnSpc>
            </a:pPr>
            <a:r>
              <a:rPr lang="en-US" sz="2859" spc="-151">
                <a:solidFill>
                  <a:srgbClr val="262262"/>
                </a:solidFill>
                <a:latin typeface="Lexend Deca"/>
                <a:ea typeface="Lexend Deca"/>
                <a:cs typeface="Lexend Deca"/>
                <a:sym typeface="Lexend Deca"/>
              </a:rPr>
              <a:t>Air quality monitoring using technologial methods helps assess pollution levels, identify sources, and implement measures to protect public health, the environment, and overall quality of life. It also provides essential data to understand pollution, mitigate its impact, and create healthier environments for people and nature.</a:t>
            </a:r>
          </a:p>
        </p:txBody>
      </p:sp>
      <p:grpSp>
        <p:nvGrpSpPr>
          <p:cNvPr name="Group 16" id="16"/>
          <p:cNvGrpSpPr/>
          <p:nvPr/>
        </p:nvGrpSpPr>
        <p:grpSpPr>
          <a:xfrm rot="-2700000">
            <a:off x="6833409" y="10221305"/>
            <a:ext cx="204886" cy="204886"/>
            <a:chOff x="0" y="0"/>
            <a:chExt cx="53962" cy="53962"/>
          </a:xfrm>
        </p:grpSpPr>
        <p:sp>
          <p:nvSpPr>
            <p:cNvPr name="Freeform 17" id="17"/>
            <p:cNvSpPr/>
            <p:nvPr/>
          </p:nvSpPr>
          <p:spPr>
            <a:xfrm flipH="false" flipV="false" rot="0">
              <a:off x="0" y="0"/>
              <a:ext cx="53962" cy="53962"/>
            </a:xfrm>
            <a:custGeom>
              <a:avLst/>
              <a:gdLst/>
              <a:ahLst/>
              <a:cxnLst/>
              <a:rect r="r" b="b" t="t" l="l"/>
              <a:pathLst>
                <a:path h="53962" w="53962">
                  <a:moveTo>
                    <a:pt x="0" y="0"/>
                  </a:moveTo>
                  <a:lnTo>
                    <a:pt x="53962" y="0"/>
                  </a:lnTo>
                  <a:lnTo>
                    <a:pt x="53962" y="53962"/>
                  </a:lnTo>
                  <a:lnTo>
                    <a:pt x="0" y="53962"/>
                  </a:lnTo>
                  <a:close/>
                </a:path>
              </a:pathLst>
            </a:custGeom>
            <a:solidFill>
              <a:srgbClr val="00AEEF"/>
            </a:solidFill>
          </p:spPr>
        </p:sp>
        <p:sp>
          <p:nvSpPr>
            <p:cNvPr name="TextBox 18" id="18"/>
            <p:cNvSpPr txBox="true"/>
            <p:nvPr/>
          </p:nvSpPr>
          <p:spPr>
            <a:xfrm>
              <a:off x="0" y="28575"/>
              <a:ext cx="53962" cy="25387"/>
            </a:xfrm>
            <a:prstGeom prst="rect">
              <a:avLst/>
            </a:prstGeom>
          </p:spPr>
          <p:txBody>
            <a:bodyPr anchor="ctr" rtlCol="false" tIns="50800" lIns="50800" bIns="50800" rIns="50800"/>
            <a:lstStyle/>
            <a:p>
              <a:pPr algn="ctr">
                <a:lnSpc>
                  <a:spcPts val="1935"/>
                </a:lnSpc>
              </a:pPr>
            </a:p>
          </p:txBody>
        </p:sp>
      </p:grpSp>
      <p:grpSp>
        <p:nvGrpSpPr>
          <p:cNvPr name="Group 19" id="19"/>
          <p:cNvGrpSpPr/>
          <p:nvPr/>
        </p:nvGrpSpPr>
        <p:grpSpPr>
          <a:xfrm rot="-2700000">
            <a:off x="2109148" y="4297848"/>
            <a:ext cx="204886" cy="204886"/>
            <a:chOff x="0" y="0"/>
            <a:chExt cx="53962" cy="53962"/>
          </a:xfrm>
        </p:grpSpPr>
        <p:sp>
          <p:nvSpPr>
            <p:cNvPr name="Freeform 20" id="20"/>
            <p:cNvSpPr/>
            <p:nvPr/>
          </p:nvSpPr>
          <p:spPr>
            <a:xfrm flipH="false" flipV="false" rot="0">
              <a:off x="0" y="0"/>
              <a:ext cx="53962" cy="53962"/>
            </a:xfrm>
            <a:custGeom>
              <a:avLst/>
              <a:gdLst/>
              <a:ahLst/>
              <a:cxnLst/>
              <a:rect r="r" b="b" t="t" l="l"/>
              <a:pathLst>
                <a:path h="53962" w="53962">
                  <a:moveTo>
                    <a:pt x="0" y="0"/>
                  </a:moveTo>
                  <a:lnTo>
                    <a:pt x="53962" y="0"/>
                  </a:lnTo>
                  <a:lnTo>
                    <a:pt x="53962" y="53962"/>
                  </a:lnTo>
                  <a:lnTo>
                    <a:pt x="0" y="53962"/>
                  </a:lnTo>
                  <a:close/>
                </a:path>
              </a:pathLst>
            </a:custGeom>
            <a:solidFill>
              <a:srgbClr val="00AEEF"/>
            </a:solidFill>
          </p:spPr>
        </p:sp>
        <p:sp>
          <p:nvSpPr>
            <p:cNvPr name="TextBox 21" id="21"/>
            <p:cNvSpPr txBox="true"/>
            <p:nvPr/>
          </p:nvSpPr>
          <p:spPr>
            <a:xfrm>
              <a:off x="0" y="28575"/>
              <a:ext cx="53962" cy="25387"/>
            </a:xfrm>
            <a:prstGeom prst="rect">
              <a:avLst/>
            </a:prstGeom>
          </p:spPr>
          <p:txBody>
            <a:bodyPr anchor="ctr" rtlCol="false" tIns="50800" lIns="50800" bIns="50800" rIns="50800"/>
            <a:lstStyle/>
            <a:p>
              <a:pPr algn="ctr">
                <a:lnSpc>
                  <a:spcPts val="1935"/>
                </a:lnSpc>
              </a:pP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95173" y="600994"/>
            <a:ext cx="929135" cy="187516"/>
          </a:xfrm>
          <a:custGeom>
            <a:avLst/>
            <a:gdLst/>
            <a:ahLst/>
            <a:cxnLst/>
            <a:rect r="r" b="b" t="t" l="l"/>
            <a:pathLst>
              <a:path h="187516" w="929135">
                <a:moveTo>
                  <a:pt x="0" y="0"/>
                </a:moveTo>
                <a:lnTo>
                  <a:pt x="929136" y="0"/>
                </a:lnTo>
                <a:lnTo>
                  <a:pt x="929136" y="187517"/>
                </a:lnTo>
                <a:lnTo>
                  <a:pt x="0" y="1875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6370030" y="0"/>
            <a:ext cx="1917970" cy="1917970"/>
          </a:xfrm>
          <a:custGeom>
            <a:avLst/>
            <a:gdLst/>
            <a:ahLst/>
            <a:cxnLst/>
            <a:rect r="r" b="b" t="t" l="l"/>
            <a:pathLst>
              <a:path h="1917970" w="1917970">
                <a:moveTo>
                  <a:pt x="0" y="0"/>
                </a:moveTo>
                <a:lnTo>
                  <a:pt x="1917970" y="0"/>
                </a:lnTo>
                <a:lnTo>
                  <a:pt x="1917970" y="1917970"/>
                </a:lnTo>
                <a:lnTo>
                  <a:pt x="0" y="19179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407141" y="652748"/>
            <a:ext cx="7393359" cy="4154144"/>
          </a:xfrm>
          <a:custGeom>
            <a:avLst/>
            <a:gdLst/>
            <a:ahLst/>
            <a:cxnLst/>
            <a:rect r="r" b="b" t="t" l="l"/>
            <a:pathLst>
              <a:path h="4154144" w="7393359">
                <a:moveTo>
                  <a:pt x="0" y="0"/>
                </a:moveTo>
                <a:lnTo>
                  <a:pt x="7393360" y="0"/>
                </a:lnTo>
                <a:lnTo>
                  <a:pt x="7393360" y="4154144"/>
                </a:lnTo>
                <a:lnTo>
                  <a:pt x="0" y="4154144"/>
                </a:lnTo>
                <a:lnTo>
                  <a:pt x="0" y="0"/>
                </a:lnTo>
                <a:close/>
              </a:path>
            </a:pathLst>
          </a:custGeom>
          <a:blipFill>
            <a:blip r:embed="rId6"/>
            <a:stretch>
              <a:fillRect l="0" t="0" r="0" b="0"/>
            </a:stretch>
          </a:blipFill>
        </p:spPr>
      </p:sp>
      <p:grpSp>
        <p:nvGrpSpPr>
          <p:cNvPr name="Group 5" id="5"/>
          <p:cNvGrpSpPr/>
          <p:nvPr/>
        </p:nvGrpSpPr>
        <p:grpSpPr>
          <a:xfrm rot="-2700000">
            <a:off x="1390825" y="2367803"/>
            <a:ext cx="204886" cy="204886"/>
            <a:chOff x="0" y="0"/>
            <a:chExt cx="53962" cy="53962"/>
          </a:xfrm>
        </p:grpSpPr>
        <p:sp>
          <p:nvSpPr>
            <p:cNvPr name="Freeform 6" id="6"/>
            <p:cNvSpPr/>
            <p:nvPr/>
          </p:nvSpPr>
          <p:spPr>
            <a:xfrm flipH="false" flipV="false" rot="0">
              <a:off x="0" y="0"/>
              <a:ext cx="53962" cy="53962"/>
            </a:xfrm>
            <a:custGeom>
              <a:avLst/>
              <a:gdLst/>
              <a:ahLst/>
              <a:cxnLst/>
              <a:rect r="r" b="b" t="t" l="l"/>
              <a:pathLst>
                <a:path h="53962" w="53962">
                  <a:moveTo>
                    <a:pt x="0" y="0"/>
                  </a:moveTo>
                  <a:lnTo>
                    <a:pt x="53962" y="0"/>
                  </a:lnTo>
                  <a:lnTo>
                    <a:pt x="53962" y="53962"/>
                  </a:lnTo>
                  <a:lnTo>
                    <a:pt x="0" y="53962"/>
                  </a:lnTo>
                  <a:close/>
                </a:path>
              </a:pathLst>
            </a:custGeom>
            <a:solidFill>
              <a:srgbClr val="00AEEF"/>
            </a:solidFill>
          </p:spPr>
        </p:sp>
        <p:sp>
          <p:nvSpPr>
            <p:cNvPr name="TextBox 7" id="7"/>
            <p:cNvSpPr txBox="true"/>
            <p:nvPr/>
          </p:nvSpPr>
          <p:spPr>
            <a:xfrm>
              <a:off x="0" y="28575"/>
              <a:ext cx="53962" cy="25387"/>
            </a:xfrm>
            <a:prstGeom prst="rect">
              <a:avLst/>
            </a:prstGeom>
          </p:spPr>
          <p:txBody>
            <a:bodyPr anchor="ctr" rtlCol="false" tIns="50800" lIns="50800" bIns="50800" rIns="50800"/>
            <a:lstStyle/>
            <a:p>
              <a:pPr algn="ctr">
                <a:lnSpc>
                  <a:spcPts val="1935"/>
                </a:lnSpc>
              </a:pPr>
            </a:p>
          </p:txBody>
        </p:sp>
      </p:grpSp>
      <p:sp>
        <p:nvSpPr>
          <p:cNvPr name="Freeform 8" id="8"/>
          <p:cNvSpPr/>
          <p:nvPr/>
        </p:nvSpPr>
        <p:spPr>
          <a:xfrm flipH="false" flipV="false" rot="0">
            <a:off x="-803454" y="6176443"/>
            <a:ext cx="3664308" cy="4665207"/>
          </a:xfrm>
          <a:custGeom>
            <a:avLst/>
            <a:gdLst/>
            <a:ahLst/>
            <a:cxnLst/>
            <a:rect r="r" b="b" t="t" l="l"/>
            <a:pathLst>
              <a:path h="4665207" w="3664308">
                <a:moveTo>
                  <a:pt x="0" y="0"/>
                </a:moveTo>
                <a:lnTo>
                  <a:pt x="3664308" y="0"/>
                </a:lnTo>
                <a:lnTo>
                  <a:pt x="3664308" y="4665207"/>
                </a:lnTo>
                <a:lnTo>
                  <a:pt x="0" y="46652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493268" y="5549842"/>
            <a:ext cx="8869212" cy="3338997"/>
          </a:xfrm>
          <a:custGeom>
            <a:avLst/>
            <a:gdLst/>
            <a:ahLst/>
            <a:cxnLst/>
            <a:rect r="r" b="b" t="t" l="l"/>
            <a:pathLst>
              <a:path h="3338997" w="8869212">
                <a:moveTo>
                  <a:pt x="0" y="0"/>
                </a:moveTo>
                <a:lnTo>
                  <a:pt x="8869212" y="0"/>
                </a:lnTo>
                <a:lnTo>
                  <a:pt x="8869212" y="3338998"/>
                </a:lnTo>
                <a:lnTo>
                  <a:pt x="0" y="3338998"/>
                </a:lnTo>
                <a:lnTo>
                  <a:pt x="0" y="0"/>
                </a:lnTo>
                <a:close/>
              </a:path>
            </a:pathLst>
          </a:custGeom>
          <a:blipFill>
            <a:blip r:embed="rId9"/>
            <a:stretch>
              <a:fillRect l="0" t="0" r="0" b="0"/>
            </a:stretch>
          </a:blipFill>
        </p:spPr>
      </p:sp>
      <p:sp>
        <p:nvSpPr>
          <p:cNvPr name="Freeform 10" id="10"/>
          <p:cNvSpPr/>
          <p:nvPr/>
        </p:nvSpPr>
        <p:spPr>
          <a:xfrm flipH="false" flipV="false" rot="0">
            <a:off x="15250493" y="9396764"/>
            <a:ext cx="929135" cy="187516"/>
          </a:xfrm>
          <a:custGeom>
            <a:avLst/>
            <a:gdLst/>
            <a:ahLst/>
            <a:cxnLst/>
            <a:rect r="r" b="b" t="t" l="l"/>
            <a:pathLst>
              <a:path h="187516" w="929135">
                <a:moveTo>
                  <a:pt x="0" y="0"/>
                </a:moveTo>
                <a:lnTo>
                  <a:pt x="929136" y="0"/>
                </a:lnTo>
                <a:lnTo>
                  <a:pt x="929136" y="187516"/>
                </a:lnTo>
                <a:lnTo>
                  <a:pt x="0" y="187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2700000">
            <a:off x="10964986" y="6308205"/>
            <a:ext cx="204886" cy="204886"/>
            <a:chOff x="0" y="0"/>
            <a:chExt cx="53962" cy="53962"/>
          </a:xfrm>
        </p:grpSpPr>
        <p:sp>
          <p:nvSpPr>
            <p:cNvPr name="Freeform 12" id="12"/>
            <p:cNvSpPr/>
            <p:nvPr/>
          </p:nvSpPr>
          <p:spPr>
            <a:xfrm flipH="false" flipV="false" rot="0">
              <a:off x="0" y="0"/>
              <a:ext cx="53962" cy="53962"/>
            </a:xfrm>
            <a:custGeom>
              <a:avLst/>
              <a:gdLst/>
              <a:ahLst/>
              <a:cxnLst/>
              <a:rect r="r" b="b" t="t" l="l"/>
              <a:pathLst>
                <a:path h="53962" w="53962">
                  <a:moveTo>
                    <a:pt x="0" y="0"/>
                  </a:moveTo>
                  <a:lnTo>
                    <a:pt x="53962" y="0"/>
                  </a:lnTo>
                  <a:lnTo>
                    <a:pt x="53962" y="53962"/>
                  </a:lnTo>
                  <a:lnTo>
                    <a:pt x="0" y="53962"/>
                  </a:lnTo>
                  <a:close/>
                </a:path>
              </a:pathLst>
            </a:custGeom>
            <a:solidFill>
              <a:srgbClr val="00AEEF"/>
            </a:solidFill>
          </p:spPr>
        </p:sp>
        <p:sp>
          <p:nvSpPr>
            <p:cNvPr name="TextBox 13" id="13"/>
            <p:cNvSpPr txBox="true"/>
            <p:nvPr/>
          </p:nvSpPr>
          <p:spPr>
            <a:xfrm>
              <a:off x="0" y="28575"/>
              <a:ext cx="53962" cy="25387"/>
            </a:xfrm>
            <a:prstGeom prst="rect">
              <a:avLst/>
            </a:prstGeom>
          </p:spPr>
          <p:txBody>
            <a:bodyPr anchor="ctr" rtlCol="false" tIns="50800" lIns="50800" bIns="50800" rIns="50800"/>
            <a:lstStyle/>
            <a:p>
              <a:pPr algn="ctr">
                <a:lnSpc>
                  <a:spcPts val="1935"/>
                </a:lnSpc>
              </a:pPr>
            </a:p>
          </p:txBody>
        </p:sp>
      </p:grpSp>
      <p:sp>
        <p:nvSpPr>
          <p:cNvPr name="Freeform 14" id="14"/>
          <p:cNvSpPr/>
          <p:nvPr/>
        </p:nvSpPr>
        <p:spPr>
          <a:xfrm flipH="false" flipV="false" rot="0">
            <a:off x="11020477" y="6881004"/>
            <a:ext cx="191828" cy="239149"/>
          </a:xfrm>
          <a:custGeom>
            <a:avLst/>
            <a:gdLst/>
            <a:ahLst/>
            <a:cxnLst/>
            <a:rect r="r" b="b" t="t" l="l"/>
            <a:pathLst>
              <a:path h="239149" w="191828">
                <a:moveTo>
                  <a:pt x="0" y="0"/>
                </a:moveTo>
                <a:lnTo>
                  <a:pt x="191828" y="0"/>
                </a:lnTo>
                <a:lnTo>
                  <a:pt x="191828" y="239149"/>
                </a:lnTo>
                <a:lnTo>
                  <a:pt x="0" y="23914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1028700" y="1314450"/>
            <a:ext cx="6848658" cy="772795"/>
          </a:xfrm>
          <a:prstGeom prst="rect">
            <a:avLst/>
          </a:prstGeom>
        </p:spPr>
        <p:txBody>
          <a:bodyPr anchor="t" rtlCol="false" tIns="0" lIns="0" bIns="0" rIns="0">
            <a:spAutoFit/>
          </a:bodyPr>
          <a:lstStyle/>
          <a:p>
            <a:pPr algn="l">
              <a:lnSpc>
                <a:spcPts val="5389"/>
              </a:lnSpc>
            </a:pPr>
            <a:r>
              <a:rPr lang="en-US" sz="6999" spc="-370">
                <a:solidFill>
                  <a:srgbClr val="262262"/>
                </a:solidFill>
                <a:latin typeface="Lexend Deca"/>
                <a:ea typeface="Lexend Deca"/>
                <a:cs typeface="Lexend Deca"/>
                <a:sym typeface="Lexend Deca"/>
              </a:rPr>
              <a:t>Air Quality Index</a:t>
            </a:r>
          </a:p>
        </p:txBody>
      </p:sp>
      <p:sp>
        <p:nvSpPr>
          <p:cNvPr name="TextBox 16" id="16"/>
          <p:cNvSpPr txBox="true"/>
          <p:nvPr/>
        </p:nvSpPr>
        <p:spPr>
          <a:xfrm rot="0">
            <a:off x="1850561" y="2306320"/>
            <a:ext cx="6936145" cy="3005397"/>
          </a:xfrm>
          <a:prstGeom prst="rect">
            <a:avLst/>
          </a:prstGeom>
        </p:spPr>
        <p:txBody>
          <a:bodyPr anchor="t" rtlCol="false" tIns="0" lIns="0" bIns="0" rIns="0">
            <a:spAutoFit/>
          </a:bodyPr>
          <a:lstStyle/>
          <a:p>
            <a:pPr algn="l">
              <a:lnSpc>
                <a:spcPts val="3424"/>
              </a:lnSpc>
            </a:pPr>
            <a:r>
              <a:rPr lang="en-US" sz="2761" spc="-146">
                <a:solidFill>
                  <a:srgbClr val="262262"/>
                </a:solidFill>
                <a:latin typeface="Lexend Deca"/>
                <a:ea typeface="Lexend Deca"/>
                <a:cs typeface="Lexend Deca"/>
                <a:sym typeface="Lexend Deca"/>
              </a:rPr>
              <a:t>The Air Quality Index (AQI) is a numerical scale that indicates air pollution levels by measuring key pollutants like PM2.5, PM10, CO, NO₂, SO₂, and O₃. It categorizes air quality into different levels (Good, Moderate, Unhealthy, etc.) to help assess health risks and guide necessary precautions.</a:t>
            </a:r>
          </a:p>
        </p:txBody>
      </p:sp>
      <p:sp>
        <p:nvSpPr>
          <p:cNvPr name="TextBox 17" id="17"/>
          <p:cNvSpPr txBox="true"/>
          <p:nvPr/>
        </p:nvSpPr>
        <p:spPr>
          <a:xfrm rot="0">
            <a:off x="11428239" y="6184296"/>
            <a:ext cx="6282386" cy="433654"/>
          </a:xfrm>
          <a:prstGeom prst="rect">
            <a:avLst/>
          </a:prstGeom>
        </p:spPr>
        <p:txBody>
          <a:bodyPr anchor="t" rtlCol="false" tIns="0" lIns="0" bIns="0" rIns="0">
            <a:spAutoFit/>
          </a:bodyPr>
          <a:lstStyle/>
          <a:p>
            <a:pPr algn="l">
              <a:lnSpc>
                <a:spcPts val="3422"/>
              </a:lnSpc>
            </a:pPr>
            <a:r>
              <a:rPr lang="en-US" sz="2760" spc="-146">
                <a:solidFill>
                  <a:srgbClr val="262262"/>
                </a:solidFill>
                <a:latin typeface="Lexend Deca"/>
                <a:ea typeface="Lexend Deca"/>
                <a:cs typeface="Lexend Deca"/>
                <a:sym typeface="Lexend Deca"/>
              </a:rPr>
              <a:t>Importance of AQI: -</a:t>
            </a:r>
          </a:p>
        </p:txBody>
      </p:sp>
      <p:sp>
        <p:nvSpPr>
          <p:cNvPr name="TextBox 18" id="18"/>
          <p:cNvSpPr txBox="true"/>
          <p:nvPr/>
        </p:nvSpPr>
        <p:spPr>
          <a:xfrm rot="0">
            <a:off x="11428239" y="6774226"/>
            <a:ext cx="6282386" cy="862279"/>
          </a:xfrm>
          <a:prstGeom prst="rect">
            <a:avLst/>
          </a:prstGeom>
        </p:spPr>
        <p:txBody>
          <a:bodyPr anchor="t" rtlCol="false" tIns="0" lIns="0" bIns="0" rIns="0">
            <a:spAutoFit/>
          </a:bodyPr>
          <a:lstStyle/>
          <a:p>
            <a:pPr algn="l">
              <a:lnSpc>
                <a:spcPts val="3422"/>
              </a:lnSpc>
            </a:pPr>
            <a:r>
              <a:rPr lang="en-US" sz="2760" spc="-146">
                <a:solidFill>
                  <a:srgbClr val="262262"/>
                </a:solidFill>
                <a:latin typeface="Lexend Deca"/>
                <a:ea typeface="Lexend Deca"/>
                <a:cs typeface="Lexend Deca"/>
                <a:sym typeface="Lexend Deca"/>
              </a:rPr>
              <a:t>Helps people understand air pollution levels and their impact on health</a:t>
            </a:r>
          </a:p>
        </p:txBody>
      </p:sp>
      <p:sp>
        <p:nvSpPr>
          <p:cNvPr name="Freeform 19" id="19"/>
          <p:cNvSpPr/>
          <p:nvPr/>
        </p:nvSpPr>
        <p:spPr>
          <a:xfrm flipH="false" flipV="false" rot="0">
            <a:off x="11020477" y="7909731"/>
            <a:ext cx="191828" cy="239149"/>
          </a:xfrm>
          <a:custGeom>
            <a:avLst/>
            <a:gdLst/>
            <a:ahLst/>
            <a:cxnLst/>
            <a:rect r="r" b="b" t="t" l="l"/>
            <a:pathLst>
              <a:path h="239149" w="191828">
                <a:moveTo>
                  <a:pt x="0" y="0"/>
                </a:moveTo>
                <a:lnTo>
                  <a:pt x="191828" y="0"/>
                </a:lnTo>
                <a:lnTo>
                  <a:pt x="191828" y="239149"/>
                </a:lnTo>
                <a:lnTo>
                  <a:pt x="0" y="23914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0" id="20"/>
          <p:cNvSpPr txBox="true"/>
          <p:nvPr/>
        </p:nvSpPr>
        <p:spPr>
          <a:xfrm rot="0">
            <a:off x="11428239" y="7788905"/>
            <a:ext cx="6282386" cy="862279"/>
          </a:xfrm>
          <a:prstGeom prst="rect">
            <a:avLst/>
          </a:prstGeom>
        </p:spPr>
        <p:txBody>
          <a:bodyPr anchor="t" rtlCol="false" tIns="0" lIns="0" bIns="0" rIns="0">
            <a:spAutoFit/>
          </a:bodyPr>
          <a:lstStyle/>
          <a:p>
            <a:pPr algn="l">
              <a:lnSpc>
                <a:spcPts val="3422"/>
              </a:lnSpc>
            </a:pPr>
            <a:r>
              <a:rPr lang="en-US" sz="2760" spc="-146">
                <a:solidFill>
                  <a:srgbClr val="262262"/>
                </a:solidFill>
                <a:latin typeface="Lexend Deca"/>
                <a:ea typeface="Lexend Deca"/>
                <a:cs typeface="Lexend Deca"/>
                <a:sym typeface="Lexend Deca"/>
              </a:rPr>
              <a:t>Guides outdoor activities based on air quality conditions</a:t>
            </a:r>
          </a:p>
        </p:txBody>
      </p:sp>
      <p:sp>
        <p:nvSpPr>
          <p:cNvPr name="TextBox 21" id="21"/>
          <p:cNvSpPr txBox="true"/>
          <p:nvPr/>
        </p:nvSpPr>
        <p:spPr>
          <a:xfrm rot="0">
            <a:off x="11428239" y="4917148"/>
            <a:ext cx="3822254" cy="433654"/>
          </a:xfrm>
          <a:prstGeom prst="rect">
            <a:avLst/>
          </a:prstGeom>
        </p:spPr>
        <p:txBody>
          <a:bodyPr anchor="t" rtlCol="false" tIns="0" lIns="0" bIns="0" rIns="0">
            <a:spAutoFit/>
          </a:bodyPr>
          <a:lstStyle/>
          <a:p>
            <a:pPr algn="l">
              <a:lnSpc>
                <a:spcPts val="3422"/>
              </a:lnSpc>
            </a:pPr>
            <a:r>
              <a:rPr lang="en-US" sz="2760" spc="-146">
                <a:solidFill>
                  <a:srgbClr val="262262"/>
                </a:solidFill>
                <a:latin typeface="Lexend Deca"/>
                <a:ea typeface="Lexend Deca"/>
                <a:cs typeface="Lexend Deca"/>
                <a:sym typeface="Lexend Deca"/>
              </a:rPr>
              <a:t>Fig-1 : AQI Calculation</a:t>
            </a:r>
          </a:p>
        </p:txBody>
      </p:sp>
      <p:sp>
        <p:nvSpPr>
          <p:cNvPr name="TextBox 22" id="22"/>
          <p:cNvSpPr txBox="true"/>
          <p:nvPr/>
        </p:nvSpPr>
        <p:spPr>
          <a:xfrm rot="0">
            <a:off x="2291747" y="8963109"/>
            <a:ext cx="6494959" cy="433654"/>
          </a:xfrm>
          <a:prstGeom prst="rect">
            <a:avLst/>
          </a:prstGeom>
        </p:spPr>
        <p:txBody>
          <a:bodyPr anchor="t" rtlCol="false" tIns="0" lIns="0" bIns="0" rIns="0">
            <a:spAutoFit/>
          </a:bodyPr>
          <a:lstStyle/>
          <a:p>
            <a:pPr algn="l">
              <a:lnSpc>
                <a:spcPts val="3422"/>
              </a:lnSpc>
            </a:pPr>
            <a:r>
              <a:rPr lang="en-US" sz="2760" spc="-146">
                <a:solidFill>
                  <a:srgbClr val="262262"/>
                </a:solidFill>
                <a:latin typeface="Lexend Deca"/>
                <a:ea typeface="Lexend Deca"/>
                <a:cs typeface="Lexend Deca"/>
                <a:sym typeface="Lexend Deca"/>
              </a:rPr>
              <a:t>Fig-2 : Health impact table based on AQI</a:t>
            </a:r>
          </a:p>
        </p:txBody>
      </p:sp>
    </p:spTree>
  </p:cSld>
  <p:clrMapOvr>
    <a:masterClrMapping/>
  </p:clrMapOvr>
  <p:transition spd="med">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10800000">
            <a:off x="0" y="7865215"/>
            <a:ext cx="2371928" cy="2371928"/>
          </a:xfrm>
          <a:custGeom>
            <a:avLst/>
            <a:gdLst/>
            <a:ahLst/>
            <a:cxnLst/>
            <a:rect r="r" b="b" t="t" l="l"/>
            <a:pathLst>
              <a:path h="2371928" w="2371928">
                <a:moveTo>
                  <a:pt x="2371928" y="2371928"/>
                </a:moveTo>
                <a:lnTo>
                  <a:pt x="0" y="2371928"/>
                </a:lnTo>
                <a:lnTo>
                  <a:pt x="0" y="0"/>
                </a:lnTo>
                <a:lnTo>
                  <a:pt x="2371928" y="0"/>
                </a:lnTo>
                <a:lnTo>
                  <a:pt x="2371928" y="237192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00904" y="1313383"/>
            <a:ext cx="13575751" cy="772795"/>
          </a:xfrm>
          <a:prstGeom prst="rect">
            <a:avLst/>
          </a:prstGeom>
        </p:spPr>
        <p:txBody>
          <a:bodyPr anchor="t" rtlCol="false" tIns="0" lIns="0" bIns="0" rIns="0">
            <a:spAutoFit/>
          </a:bodyPr>
          <a:lstStyle/>
          <a:p>
            <a:pPr algn="l">
              <a:lnSpc>
                <a:spcPts val="5389"/>
              </a:lnSpc>
            </a:pPr>
            <a:r>
              <a:rPr lang="en-US" sz="6999" spc="-370">
                <a:solidFill>
                  <a:srgbClr val="262262"/>
                </a:solidFill>
                <a:latin typeface="Lexend Deca"/>
                <a:ea typeface="Lexend Deca"/>
                <a:cs typeface="Lexend Deca"/>
                <a:sym typeface="Lexend Deca"/>
              </a:rPr>
              <a:t>Methodology</a:t>
            </a:r>
          </a:p>
        </p:txBody>
      </p:sp>
      <p:sp>
        <p:nvSpPr>
          <p:cNvPr name="TextBox 4" id="4"/>
          <p:cNvSpPr txBox="true"/>
          <p:nvPr/>
        </p:nvSpPr>
        <p:spPr>
          <a:xfrm rot="0">
            <a:off x="8031828" y="3025240"/>
            <a:ext cx="8200900" cy="862272"/>
          </a:xfrm>
          <a:prstGeom prst="rect">
            <a:avLst/>
          </a:prstGeom>
        </p:spPr>
        <p:txBody>
          <a:bodyPr anchor="t" rtlCol="false" tIns="0" lIns="0" bIns="0" rIns="0">
            <a:spAutoFit/>
          </a:bodyPr>
          <a:lstStyle/>
          <a:p>
            <a:pPr algn="l">
              <a:lnSpc>
                <a:spcPts val="3424"/>
              </a:lnSpc>
            </a:pPr>
            <a:r>
              <a:rPr lang="en-US" sz="2761" spc="-146">
                <a:solidFill>
                  <a:srgbClr val="262262"/>
                </a:solidFill>
                <a:latin typeface="Lexend Deca"/>
                <a:ea typeface="Lexend Deca"/>
                <a:cs typeface="Lexend Deca"/>
                <a:sym typeface="Lexend Deca"/>
              </a:rPr>
              <a:t>Assemblage of multiple sensors in a single system to measure Air Quality Parameters.</a:t>
            </a:r>
          </a:p>
        </p:txBody>
      </p:sp>
      <p:sp>
        <p:nvSpPr>
          <p:cNvPr name="TextBox 5" id="5"/>
          <p:cNvSpPr txBox="true"/>
          <p:nvPr/>
        </p:nvSpPr>
        <p:spPr>
          <a:xfrm rot="0">
            <a:off x="8031828" y="4088944"/>
            <a:ext cx="7884244" cy="433647"/>
          </a:xfrm>
          <a:prstGeom prst="rect">
            <a:avLst/>
          </a:prstGeom>
        </p:spPr>
        <p:txBody>
          <a:bodyPr anchor="t" rtlCol="false" tIns="0" lIns="0" bIns="0" rIns="0">
            <a:spAutoFit/>
          </a:bodyPr>
          <a:lstStyle/>
          <a:p>
            <a:pPr algn="l">
              <a:lnSpc>
                <a:spcPts val="3424"/>
              </a:lnSpc>
            </a:pPr>
            <a:r>
              <a:rPr lang="en-US" sz="2761" spc="-146">
                <a:solidFill>
                  <a:srgbClr val="262262"/>
                </a:solidFill>
                <a:latin typeface="Lexend Deca"/>
                <a:ea typeface="Lexend Deca"/>
                <a:cs typeface="Lexend Deca"/>
                <a:sym typeface="Lexend Deca"/>
              </a:rPr>
              <a:t>Sensor-Based Real time Data Collection</a:t>
            </a:r>
          </a:p>
        </p:txBody>
      </p:sp>
      <p:sp>
        <p:nvSpPr>
          <p:cNvPr name="Freeform 6" id="6"/>
          <p:cNvSpPr/>
          <p:nvPr/>
        </p:nvSpPr>
        <p:spPr>
          <a:xfrm flipH="true" flipV="true" rot="0">
            <a:off x="15278530" y="-365911"/>
            <a:ext cx="3664308" cy="4665207"/>
          </a:xfrm>
          <a:custGeom>
            <a:avLst/>
            <a:gdLst/>
            <a:ahLst/>
            <a:cxnLst/>
            <a:rect r="r" b="b" t="t" l="l"/>
            <a:pathLst>
              <a:path h="4665207" w="3664308">
                <a:moveTo>
                  <a:pt x="3664309" y="4665207"/>
                </a:moveTo>
                <a:lnTo>
                  <a:pt x="0" y="4665207"/>
                </a:lnTo>
                <a:lnTo>
                  <a:pt x="0" y="0"/>
                </a:lnTo>
                <a:lnTo>
                  <a:pt x="3664309" y="0"/>
                </a:lnTo>
                <a:lnTo>
                  <a:pt x="3664309" y="4665207"/>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7" id="7"/>
          <p:cNvPicPr>
            <a:picLocks noChangeAspect="true"/>
          </p:cNvPicPr>
          <p:nvPr/>
        </p:nvPicPr>
        <p:blipFill>
          <a:blip r:embed="rId6"/>
          <a:stretch>
            <a:fillRect/>
          </a:stretch>
        </p:blipFill>
        <p:spPr>
          <a:xfrm rot="0">
            <a:off x="851575" y="1822599"/>
            <a:ext cx="6591946" cy="6591946"/>
          </a:xfrm>
          <a:prstGeom prst="rect">
            <a:avLst/>
          </a:prstGeom>
        </p:spPr>
      </p:pic>
      <p:grpSp>
        <p:nvGrpSpPr>
          <p:cNvPr name="Group 8" id="8"/>
          <p:cNvGrpSpPr/>
          <p:nvPr/>
        </p:nvGrpSpPr>
        <p:grpSpPr>
          <a:xfrm rot="-2700000">
            <a:off x="7640160" y="3086723"/>
            <a:ext cx="204886" cy="204886"/>
            <a:chOff x="0" y="0"/>
            <a:chExt cx="53962" cy="53962"/>
          </a:xfrm>
        </p:grpSpPr>
        <p:sp>
          <p:nvSpPr>
            <p:cNvPr name="Freeform 9" id="9"/>
            <p:cNvSpPr/>
            <p:nvPr/>
          </p:nvSpPr>
          <p:spPr>
            <a:xfrm flipH="false" flipV="false" rot="0">
              <a:off x="0" y="0"/>
              <a:ext cx="53962" cy="53962"/>
            </a:xfrm>
            <a:custGeom>
              <a:avLst/>
              <a:gdLst/>
              <a:ahLst/>
              <a:cxnLst/>
              <a:rect r="r" b="b" t="t" l="l"/>
              <a:pathLst>
                <a:path h="53962" w="53962">
                  <a:moveTo>
                    <a:pt x="0" y="0"/>
                  </a:moveTo>
                  <a:lnTo>
                    <a:pt x="53962" y="0"/>
                  </a:lnTo>
                  <a:lnTo>
                    <a:pt x="53962" y="53962"/>
                  </a:lnTo>
                  <a:lnTo>
                    <a:pt x="0" y="53962"/>
                  </a:lnTo>
                  <a:close/>
                </a:path>
              </a:pathLst>
            </a:custGeom>
            <a:solidFill>
              <a:srgbClr val="00AEEF"/>
            </a:solidFill>
          </p:spPr>
        </p:sp>
        <p:sp>
          <p:nvSpPr>
            <p:cNvPr name="TextBox 10" id="10"/>
            <p:cNvSpPr txBox="true"/>
            <p:nvPr/>
          </p:nvSpPr>
          <p:spPr>
            <a:xfrm>
              <a:off x="0" y="28575"/>
              <a:ext cx="53962" cy="25387"/>
            </a:xfrm>
            <a:prstGeom prst="rect">
              <a:avLst/>
            </a:prstGeom>
          </p:spPr>
          <p:txBody>
            <a:bodyPr anchor="ctr" rtlCol="false" tIns="50800" lIns="50800" bIns="50800" rIns="50800"/>
            <a:lstStyle/>
            <a:p>
              <a:pPr algn="ctr">
                <a:lnSpc>
                  <a:spcPts val="1935"/>
                </a:lnSpc>
              </a:pPr>
            </a:p>
          </p:txBody>
        </p:sp>
      </p:grpSp>
      <p:grpSp>
        <p:nvGrpSpPr>
          <p:cNvPr name="Group 11" id="11"/>
          <p:cNvGrpSpPr/>
          <p:nvPr/>
        </p:nvGrpSpPr>
        <p:grpSpPr>
          <a:xfrm rot="-2700000">
            <a:off x="7640160" y="4196853"/>
            <a:ext cx="204886" cy="204886"/>
            <a:chOff x="0" y="0"/>
            <a:chExt cx="53962" cy="53962"/>
          </a:xfrm>
        </p:grpSpPr>
        <p:sp>
          <p:nvSpPr>
            <p:cNvPr name="Freeform 12" id="12"/>
            <p:cNvSpPr/>
            <p:nvPr/>
          </p:nvSpPr>
          <p:spPr>
            <a:xfrm flipH="false" flipV="false" rot="0">
              <a:off x="0" y="0"/>
              <a:ext cx="53962" cy="53962"/>
            </a:xfrm>
            <a:custGeom>
              <a:avLst/>
              <a:gdLst/>
              <a:ahLst/>
              <a:cxnLst/>
              <a:rect r="r" b="b" t="t" l="l"/>
              <a:pathLst>
                <a:path h="53962" w="53962">
                  <a:moveTo>
                    <a:pt x="0" y="0"/>
                  </a:moveTo>
                  <a:lnTo>
                    <a:pt x="53962" y="0"/>
                  </a:lnTo>
                  <a:lnTo>
                    <a:pt x="53962" y="53962"/>
                  </a:lnTo>
                  <a:lnTo>
                    <a:pt x="0" y="53962"/>
                  </a:lnTo>
                  <a:close/>
                </a:path>
              </a:pathLst>
            </a:custGeom>
            <a:solidFill>
              <a:srgbClr val="00AEEF"/>
            </a:solidFill>
          </p:spPr>
        </p:sp>
        <p:sp>
          <p:nvSpPr>
            <p:cNvPr name="TextBox 13" id="13"/>
            <p:cNvSpPr txBox="true"/>
            <p:nvPr/>
          </p:nvSpPr>
          <p:spPr>
            <a:xfrm>
              <a:off x="0" y="28575"/>
              <a:ext cx="53962" cy="25387"/>
            </a:xfrm>
            <a:prstGeom prst="rect">
              <a:avLst/>
            </a:prstGeom>
          </p:spPr>
          <p:txBody>
            <a:bodyPr anchor="ctr" rtlCol="false" tIns="50800" lIns="50800" bIns="50800" rIns="50800"/>
            <a:lstStyle/>
            <a:p>
              <a:pPr algn="ctr">
                <a:lnSpc>
                  <a:spcPts val="1935"/>
                </a:lnSpc>
              </a:pPr>
            </a:p>
          </p:txBody>
        </p:sp>
      </p:grpSp>
      <p:sp>
        <p:nvSpPr>
          <p:cNvPr name="TextBox 14" id="14"/>
          <p:cNvSpPr txBox="true"/>
          <p:nvPr/>
        </p:nvSpPr>
        <p:spPr>
          <a:xfrm rot="0">
            <a:off x="8031828" y="4789291"/>
            <a:ext cx="7884244" cy="862272"/>
          </a:xfrm>
          <a:prstGeom prst="rect">
            <a:avLst/>
          </a:prstGeom>
        </p:spPr>
        <p:txBody>
          <a:bodyPr anchor="t" rtlCol="false" tIns="0" lIns="0" bIns="0" rIns="0">
            <a:spAutoFit/>
          </a:bodyPr>
          <a:lstStyle/>
          <a:p>
            <a:pPr algn="l">
              <a:lnSpc>
                <a:spcPts val="3424"/>
              </a:lnSpc>
            </a:pPr>
            <a:r>
              <a:rPr lang="en-US" sz="2761" spc="-146">
                <a:solidFill>
                  <a:srgbClr val="262262"/>
                </a:solidFill>
                <a:latin typeface="Lexend Deca"/>
                <a:ea typeface="Lexend Deca"/>
                <a:cs typeface="Lexend Deca"/>
                <a:sym typeface="Lexend Deca"/>
              </a:rPr>
              <a:t>Access of Data with cloud based storage - Firebase Storage</a:t>
            </a:r>
          </a:p>
        </p:txBody>
      </p:sp>
      <p:grpSp>
        <p:nvGrpSpPr>
          <p:cNvPr name="Group 15" id="15"/>
          <p:cNvGrpSpPr/>
          <p:nvPr/>
        </p:nvGrpSpPr>
        <p:grpSpPr>
          <a:xfrm rot="-2700000">
            <a:off x="7640160" y="4896181"/>
            <a:ext cx="204886" cy="204886"/>
            <a:chOff x="0" y="0"/>
            <a:chExt cx="53962" cy="53962"/>
          </a:xfrm>
        </p:grpSpPr>
        <p:sp>
          <p:nvSpPr>
            <p:cNvPr name="Freeform 16" id="16"/>
            <p:cNvSpPr/>
            <p:nvPr/>
          </p:nvSpPr>
          <p:spPr>
            <a:xfrm flipH="false" flipV="false" rot="0">
              <a:off x="0" y="0"/>
              <a:ext cx="53962" cy="53962"/>
            </a:xfrm>
            <a:custGeom>
              <a:avLst/>
              <a:gdLst/>
              <a:ahLst/>
              <a:cxnLst/>
              <a:rect r="r" b="b" t="t" l="l"/>
              <a:pathLst>
                <a:path h="53962" w="53962">
                  <a:moveTo>
                    <a:pt x="0" y="0"/>
                  </a:moveTo>
                  <a:lnTo>
                    <a:pt x="53962" y="0"/>
                  </a:lnTo>
                  <a:lnTo>
                    <a:pt x="53962" y="53962"/>
                  </a:lnTo>
                  <a:lnTo>
                    <a:pt x="0" y="53962"/>
                  </a:lnTo>
                  <a:close/>
                </a:path>
              </a:pathLst>
            </a:custGeom>
            <a:solidFill>
              <a:srgbClr val="00AEEF"/>
            </a:solidFill>
          </p:spPr>
        </p:sp>
        <p:sp>
          <p:nvSpPr>
            <p:cNvPr name="TextBox 17" id="17"/>
            <p:cNvSpPr txBox="true"/>
            <p:nvPr/>
          </p:nvSpPr>
          <p:spPr>
            <a:xfrm>
              <a:off x="0" y="28575"/>
              <a:ext cx="53962" cy="25387"/>
            </a:xfrm>
            <a:prstGeom prst="rect">
              <a:avLst/>
            </a:prstGeom>
          </p:spPr>
          <p:txBody>
            <a:bodyPr anchor="ctr" rtlCol="false" tIns="50800" lIns="50800" bIns="50800" rIns="50800"/>
            <a:lstStyle/>
            <a:p>
              <a:pPr algn="ctr">
                <a:lnSpc>
                  <a:spcPts val="1935"/>
                </a:lnSpc>
              </a:pPr>
            </a:p>
          </p:txBody>
        </p:sp>
      </p:grpSp>
      <p:sp>
        <p:nvSpPr>
          <p:cNvPr name="TextBox 18" id="18"/>
          <p:cNvSpPr txBox="true"/>
          <p:nvPr/>
        </p:nvSpPr>
        <p:spPr>
          <a:xfrm rot="0">
            <a:off x="8031828" y="5918263"/>
            <a:ext cx="7884244" cy="862272"/>
          </a:xfrm>
          <a:prstGeom prst="rect">
            <a:avLst/>
          </a:prstGeom>
        </p:spPr>
        <p:txBody>
          <a:bodyPr anchor="t" rtlCol="false" tIns="0" lIns="0" bIns="0" rIns="0">
            <a:spAutoFit/>
          </a:bodyPr>
          <a:lstStyle/>
          <a:p>
            <a:pPr algn="l">
              <a:lnSpc>
                <a:spcPts val="3424"/>
              </a:lnSpc>
            </a:pPr>
            <a:r>
              <a:rPr lang="en-US" sz="2761" spc="-146">
                <a:solidFill>
                  <a:srgbClr val="262262"/>
                </a:solidFill>
                <a:latin typeface="Lexend Deca"/>
                <a:ea typeface="Lexend Deca"/>
                <a:cs typeface="Lexend Deca"/>
                <a:sym typeface="Lexend Deca"/>
              </a:rPr>
              <a:t>Development of an App for Historical and Real time Data Representation.</a:t>
            </a:r>
          </a:p>
        </p:txBody>
      </p:sp>
      <p:grpSp>
        <p:nvGrpSpPr>
          <p:cNvPr name="Group 19" id="19"/>
          <p:cNvGrpSpPr/>
          <p:nvPr/>
        </p:nvGrpSpPr>
        <p:grpSpPr>
          <a:xfrm rot="-2700000">
            <a:off x="7640160" y="6059039"/>
            <a:ext cx="204886" cy="204886"/>
            <a:chOff x="0" y="0"/>
            <a:chExt cx="53962" cy="53962"/>
          </a:xfrm>
        </p:grpSpPr>
        <p:sp>
          <p:nvSpPr>
            <p:cNvPr name="Freeform 20" id="20"/>
            <p:cNvSpPr/>
            <p:nvPr/>
          </p:nvSpPr>
          <p:spPr>
            <a:xfrm flipH="false" flipV="false" rot="0">
              <a:off x="0" y="0"/>
              <a:ext cx="53962" cy="53962"/>
            </a:xfrm>
            <a:custGeom>
              <a:avLst/>
              <a:gdLst/>
              <a:ahLst/>
              <a:cxnLst/>
              <a:rect r="r" b="b" t="t" l="l"/>
              <a:pathLst>
                <a:path h="53962" w="53962">
                  <a:moveTo>
                    <a:pt x="0" y="0"/>
                  </a:moveTo>
                  <a:lnTo>
                    <a:pt x="53962" y="0"/>
                  </a:lnTo>
                  <a:lnTo>
                    <a:pt x="53962" y="53962"/>
                  </a:lnTo>
                  <a:lnTo>
                    <a:pt x="0" y="53962"/>
                  </a:lnTo>
                  <a:close/>
                </a:path>
              </a:pathLst>
            </a:custGeom>
            <a:solidFill>
              <a:srgbClr val="00AEEF"/>
            </a:solidFill>
          </p:spPr>
        </p:sp>
        <p:sp>
          <p:nvSpPr>
            <p:cNvPr name="TextBox 21" id="21"/>
            <p:cNvSpPr txBox="true"/>
            <p:nvPr/>
          </p:nvSpPr>
          <p:spPr>
            <a:xfrm>
              <a:off x="0" y="28575"/>
              <a:ext cx="53962" cy="25387"/>
            </a:xfrm>
            <a:prstGeom prst="rect">
              <a:avLst/>
            </a:prstGeom>
          </p:spPr>
          <p:txBody>
            <a:bodyPr anchor="ctr" rtlCol="false" tIns="50800" lIns="50800" bIns="50800" rIns="50800"/>
            <a:lstStyle/>
            <a:p>
              <a:pPr algn="ctr">
                <a:lnSpc>
                  <a:spcPts val="1935"/>
                </a:lnSpc>
              </a:pPr>
            </a:p>
          </p:txBody>
        </p:sp>
      </p:grpSp>
      <p:sp>
        <p:nvSpPr>
          <p:cNvPr name="TextBox 22" id="22"/>
          <p:cNvSpPr txBox="true"/>
          <p:nvPr/>
        </p:nvSpPr>
        <p:spPr>
          <a:xfrm rot="0">
            <a:off x="8031828" y="6942460"/>
            <a:ext cx="7884244" cy="862272"/>
          </a:xfrm>
          <a:prstGeom prst="rect">
            <a:avLst/>
          </a:prstGeom>
        </p:spPr>
        <p:txBody>
          <a:bodyPr anchor="t" rtlCol="false" tIns="0" lIns="0" bIns="0" rIns="0">
            <a:spAutoFit/>
          </a:bodyPr>
          <a:lstStyle/>
          <a:p>
            <a:pPr algn="l">
              <a:lnSpc>
                <a:spcPts val="3424"/>
              </a:lnSpc>
            </a:pPr>
            <a:r>
              <a:rPr lang="en-US" sz="2761" spc="-146">
                <a:solidFill>
                  <a:srgbClr val="262262"/>
                </a:solidFill>
                <a:latin typeface="Lexend Deca"/>
                <a:ea typeface="Lexend Deca"/>
                <a:cs typeface="Lexend Deca"/>
                <a:sym typeface="Lexend Deca"/>
              </a:rPr>
              <a:t>Air Quality Parameters Data Processing and Analysis</a:t>
            </a:r>
          </a:p>
        </p:txBody>
      </p:sp>
      <p:grpSp>
        <p:nvGrpSpPr>
          <p:cNvPr name="Group 23" id="23"/>
          <p:cNvGrpSpPr/>
          <p:nvPr/>
        </p:nvGrpSpPr>
        <p:grpSpPr>
          <a:xfrm rot="-2700000">
            <a:off x="7640160" y="7063167"/>
            <a:ext cx="204886" cy="204886"/>
            <a:chOff x="0" y="0"/>
            <a:chExt cx="53962" cy="53962"/>
          </a:xfrm>
        </p:grpSpPr>
        <p:sp>
          <p:nvSpPr>
            <p:cNvPr name="Freeform 24" id="24"/>
            <p:cNvSpPr/>
            <p:nvPr/>
          </p:nvSpPr>
          <p:spPr>
            <a:xfrm flipH="false" flipV="false" rot="0">
              <a:off x="0" y="0"/>
              <a:ext cx="53962" cy="53962"/>
            </a:xfrm>
            <a:custGeom>
              <a:avLst/>
              <a:gdLst/>
              <a:ahLst/>
              <a:cxnLst/>
              <a:rect r="r" b="b" t="t" l="l"/>
              <a:pathLst>
                <a:path h="53962" w="53962">
                  <a:moveTo>
                    <a:pt x="0" y="0"/>
                  </a:moveTo>
                  <a:lnTo>
                    <a:pt x="53962" y="0"/>
                  </a:lnTo>
                  <a:lnTo>
                    <a:pt x="53962" y="53962"/>
                  </a:lnTo>
                  <a:lnTo>
                    <a:pt x="0" y="53962"/>
                  </a:lnTo>
                  <a:close/>
                </a:path>
              </a:pathLst>
            </a:custGeom>
            <a:solidFill>
              <a:srgbClr val="00AEEF"/>
            </a:solidFill>
          </p:spPr>
        </p:sp>
        <p:sp>
          <p:nvSpPr>
            <p:cNvPr name="TextBox 25" id="25"/>
            <p:cNvSpPr txBox="true"/>
            <p:nvPr/>
          </p:nvSpPr>
          <p:spPr>
            <a:xfrm>
              <a:off x="0" y="28575"/>
              <a:ext cx="53962" cy="25387"/>
            </a:xfrm>
            <a:prstGeom prst="rect">
              <a:avLst/>
            </a:prstGeom>
          </p:spPr>
          <p:txBody>
            <a:bodyPr anchor="ctr" rtlCol="false" tIns="50800" lIns="50800" bIns="50800" rIns="50800"/>
            <a:lstStyle/>
            <a:p>
              <a:pPr algn="ctr">
                <a:lnSpc>
                  <a:spcPts val="1935"/>
                </a:lnSpc>
              </a:pPr>
            </a:p>
          </p:txBody>
        </p:sp>
      </p:grpSp>
      <p:sp>
        <p:nvSpPr>
          <p:cNvPr name="TextBox 26" id="26"/>
          <p:cNvSpPr txBox="true"/>
          <p:nvPr/>
        </p:nvSpPr>
        <p:spPr>
          <a:xfrm rot="0">
            <a:off x="8031828" y="7908588"/>
            <a:ext cx="7884244" cy="433647"/>
          </a:xfrm>
          <a:prstGeom prst="rect">
            <a:avLst/>
          </a:prstGeom>
        </p:spPr>
        <p:txBody>
          <a:bodyPr anchor="t" rtlCol="false" tIns="0" lIns="0" bIns="0" rIns="0">
            <a:spAutoFit/>
          </a:bodyPr>
          <a:lstStyle/>
          <a:p>
            <a:pPr algn="l">
              <a:lnSpc>
                <a:spcPts val="3424"/>
              </a:lnSpc>
            </a:pPr>
            <a:r>
              <a:rPr lang="en-US" sz="2761" spc="-146">
                <a:solidFill>
                  <a:srgbClr val="262262"/>
                </a:solidFill>
                <a:latin typeface="Lexend Deca"/>
                <a:ea typeface="Lexend Deca"/>
                <a:cs typeface="Lexend Deca"/>
                <a:sym typeface="Lexend Deca"/>
              </a:rPr>
              <a:t>Interactive Visualisation of data in App developed</a:t>
            </a:r>
          </a:p>
        </p:txBody>
      </p:sp>
      <p:grpSp>
        <p:nvGrpSpPr>
          <p:cNvPr name="Group 27" id="27"/>
          <p:cNvGrpSpPr/>
          <p:nvPr/>
        </p:nvGrpSpPr>
        <p:grpSpPr>
          <a:xfrm rot="-2700000">
            <a:off x="7640160" y="8094915"/>
            <a:ext cx="204886" cy="204886"/>
            <a:chOff x="0" y="0"/>
            <a:chExt cx="53962" cy="53962"/>
          </a:xfrm>
        </p:grpSpPr>
        <p:sp>
          <p:nvSpPr>
            <p:cNvPr name="Freeform 28" id="28"/>
            <p:cNvSpPr/>
            <p:nvPr/>
          </p:nvSpPr>
          <p:spPr>
            <a:xfrm flipH="false" flipV="false" rot="0">
              <a:off x="0" y="0"/>
              <a:ext cx="53962" cy="53962"/>
            </a:xfrm>
            <a:custGeom>
              <a:avLst/>
              <a:gdLst/>
              <a:ahLst/>
              <a:cxnLst/>
              <a:rect r="r" b="b" t="t" l="l"/>
              <a:pathLst>
                <a:path h="53962" w="53962">
                  <a:moveTo>
                    <a:pt x="0" y="0"/>
                  </a:moveTo>
                  <a:lnTo>
                    <a:pt x="53962" y="0"/>
                  </a:lnTo>
                  <a:lnTo>
                    <a:pt x="53962" y="53962"/>
                  </a:lnTo>
                  <a:lnTo>
                    <a:pt x="0" y="53962"/>
                  </a:lnTo>
                  <a:close/>
                </a:path>
              </a:pathLst>
            </a:custGeom>
            <a:solidFill>
              <a:srgbClr val="00AEEF"/>
            </a:solidFill>
          </p:spPr>
        </p:sp>
        <p:sp>
          <p:nvSpPr>
            <p:cNvPr name="TextBox 29" id="29"/>
            <p:cNvSpPr txBox="true"/>
            <p:nvPr/>
          </p:nvSpPr>
          <p:spPr>
            <a:xfrm>
              <a:off x="0" y="28575"/>
              <a:ext cx="53962" cy="25387"/>
            </a:xfrm>
            <a:prstGeom prst="rect">
              <a:avLst/>
            </a:prstGeom>
          </p:spPr>
          <p:txBody>
            <a:bodyPr anchor="ctr" rtlCol="false" tIns="50800" lIns="50800" bIns="50800" rIns="50800"/>
            <a:lstStyle/>
            <a:p>
              <a:pPr algn="ctr">
                <a:lnSpc>
                  <a:spcPts val="1935"/>
                </a:lnSpc>
              </a:pPr>
            </a:p>
          </p:txBody>
        </p:sp>
      </p:grpSp>
      <p:sp>
        <p:nvSpPr>
          <p:cNvPr name="Freeform 30" id="30"/>
          <p:cNvSpPr/>
          <p:nvPr/>
        </p:nvSpPr>
        <p:spPr>
          <a:xfrm flipH="false" flipV="false" rot="-2700000">
            <a:off x="17040913" y="9467476"/>
            <a:ext cx="929135" cy="187516"/>
          </a:xfrm>
          <a:custGeom>
            <a:avLst/>
            <a:gdLst/>
            <a:ahLst/>
            <a:cxnLst/>
            <a:rect r="r" b="b" t="t" l="l"/>
            <a:pathLst>
              <a:path h="187516" w="929135">
                <a:moveTo>
                  <a:pt x="0" y="0"/>
                </a:moveTo>
                <a:lnTo>
                  <a:pt x="929135" y="0"/>
                </a:lnTo>
                <a:lnTo>
                  <a:pt x="929135" y="187517"/>
                </a:lnTo>
                <a:lnTo>
                  <a:pt x="0" y="1875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1" id="31"/>
          <p:cNvSpPr/>
          <p:nvPr/>
        </p:nvSpPr>
        <p:spPr>
          <a:xfrm flipH="false" flipV="false" rot="-2700000">
            <a:off x="384589" y="697410"/>
            <a:ext cx="929135" cy="187516"/>
          </a:xfrm>
          <a:custGeom>
            <a:avLst/>
            <a:gdLst/>
            <a:ahLst/>
            <a:cxnLst/>
            <a:rect r="r" b="b" t="t" l="l"/>
            <a:pathLst>
              <a:path h="187516" w="929135">
                <a:moveTo>
                  <a:pt x="0" y="0"/>
                </a:moveTo>
                <a:lnTo>
                  <a:pt x="929135" y="0"/>
                </a:lnTo>
                <a:lnTo>
                  <a:pt x="929135" y="187516"/>
                </a:lnTo>
                <a:lnTo>
                  <a:pt x="0" y="1875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2" id="32"/>
          <p:cNvSpPr txBox="true"/>
          <p:nvPr/>
        </p:nvSpPr>
        <p:spPr>
          <a:xfrm rot="0">
            <a:off x="1400904" y="7149759"/>
            <a:ext cx="5252830" cy="862272"/>
          </a:xfrm>
          <a:prstGeom prst="rect">
            <a:avLst/>
          </a:prstGeom>
        </p:spPr>
        <p:txBody>
          <a:bodyPr anchor="t" rtlCol="false" tIns="0" lIns="0" bIns="0" rIns="0">
            <a:spAutoFit/>
          </a:bodyPr>
          <a:lstStyle/>
          <a:p>
            <a:pPr algn="l">
              <a:lnSpc>
                <a:spcPts val="3424"/>
              </a:lnSpc>
            </a:pPr>
            <a:r>
              <a:rPr lang="en-US" sz="2761" spc="-146">
                <a:solidFill>
                  <a:srgbClr val="262262"/>
                </a:solidFill>
                <a:latin typeface="Lexend Deca"/>
                <a:ea typeface="Lexend Deca"/>
                <a:cs typeface="Lexend Deca"/>
                <a:sym typeface="Lexend Deca"/>
              </a:rPr>
              <a:t>Fig-3 : Diagram indicating work</a:t>
            </a:r>
          </a:p>
          <a:p>
            <a:pPr algn="l">
              <a:lnSpc>
                <a:spcPts val="3424"/>
              </a:lnSpc>
            </a:pPr>
            <a:r>
              <a:rPr lang="en-US" sz="2761" spc="-146">
                <a:solidFill>
                  <a:srgbClr val="262262"/>
                </a:solidFill>
                <a:latin typeface="Lexend Deca"/>
                <a:ea typeface="Lexend Deca"/>
                <a:cs typeface="Lexend Deca"/>
                <a:sym typeface="Lexend Deca"/>
              </a:rPr>
              <a:t>                involved in project</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uildable Instagram UI Three Dots Icon"/>
          <p:cNvSpPr/>
          <p:nvPr/>
        </p:nvSpPr>
        <p:spPr>
          <a:xfrm flipH="false" flipV="false" rot="0">
            <a:off x="13708632" y="1191481"/>
            <a:ext cx="929135" cy="187516"/>
          </a:xfrm>
          <a:custGeom>
            <a:avLst/>
            <a:gdLst/>
            <a:ahLst/>
            <a:cxnLst/>
            <a:rect r="r" b="b" t="t" l="l"/>
            <a:pathLst>
              <a:path h="187516" w="929135">
                <a:moveTo>
                  <a:pt x="0" y="0"/>
                </a:moveTo>
                <a:lnTo>
                  <a:pt x="929136" y="0"/>
                </a:lnTo>
                <a:lnTo>
                  <a:pt x="929136" y="187516"/>
                </a:lnTo>
                <a:lnTo>
                  <a:pt x="0" y="187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97225" y="3284853"/>
            <a:ext cx="5700987" cy="2951565"/>
            <a:chOff x="0" y="0"/>
            <a:chExt cx="7601316" cy="3935420"/>
          </a:xfrm>
        </p:grpSpPr>
        <p:pic>
          <p:nvPicPr>
            <p:cNvPr name="Picture 4" id="4"/>
            <p:cNvPicPr>
              <a:picLocks noChangeAspect="true"/>
            </p:cNvPicPr>
            <p:nvPr/>
          </p:nvPicPr>
          <p:blipFill>
            <a:blip r:embed="rId4"/>
            <a:srcRect l="0" t="15442" r="0" b="15442"/>
            <a:stretch>
              <a:fillRect/>
            </a:stretch>
          </p:blipFill>
          <p:spPr>
            <a:xfrm flipH="false" flipV="false">
              <a:off x="0" y="0"/>
              <a:ext cx="7601316" cy="3935420"/>
            </a:xfrm>
            <a:prstGeom prst="rect">
              <a:avLst/>
            </a:prstGeom>
          </p:spPr>
        </p:pic>
      </p:grpSp>
      <p:sp>
        <p:nvSpPr>
          <p:cNvPr name="Freeform 5" id="5" descr="Buildable Instagram UI Three Dots Icon"/>
          <p:cNvSpPr/>
          <p:nvPr/>
        </p:nvSpPr>
        <p:spPr>
          <a:xfrm flipH="false" flipV="false" rot="0">
            <a:off x="2223159" y="9258300"/>
            <a:ext cx="929135" cy="187516"/>
          </a:xfrm>
          <a:custGeom>
            <a:avLst/>
            <a:gdLst/>
            <a:ahLst/>
            <a:cxnLst/>
            <a:rect r="r" b="b" t="t" l="l"/>
            <a:pathLst>
              <a:path h="187516" w="929135">
                <a:moveTo>
                  <a:pt x="0" y="0"/>
                </a:moveTo>
                <a:lnTo>
                  <a:pt x="929136" y="0"/>
                </a:lnTo>
                <a:lnTo>
                  <a:pt x="929136" y="187516"/>
                </a:lnTo>
                <a:lnTo>
                  <a:pt x="0" y="187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2700000">
            <a:off x="1074957" y="6490390"/>
            <a:ext cx="223351" cy="223351"/>
            <a:chOff x="0" y="0"/>
            <a:chExt cx="58825" cy="58825"/>
          </a:xfrm>
        </p:grpSpPr>
        <p:sp>
          <p:nvSpPr>
            <p:cNvPr name="Freeform 7" id="7"/>
            <p:cNvSpPr/>
            <p:nvPr/>
          </p:nvSpPr>
          <p:spPr>
            <a:xfrm flipH="false" flipV="false" rot="0">
              <a:off x="0" y="0"/>
              <a:ext cx="58825" cy="58825"/>
            </a:xfrm>
            <a:custGeom>
              <a:avLst/>
              <a:gdLst/>
              <a:ahLst/>
              <a:cxnLst/>
              <a:rect r="r" b="b" t="t" l="l"/>
              <a:pathLst>
                <a:path h="58825" w="58825">
                  <a:moveTo>
                    <a:pt x="0" y="0"/>
                  </a:moveTo>
                  <a:lnTo>
                    <a:pt x="58825" y="0"/>
                  </a:lnTo>
                  <a:lnTo>
                    <a:pt x="58825" y="58825"/>
                  </a:lnTo>
                  <a:lnTo>
                    <a:pt x="0" y="58825"/>
                  </a:lnTo>
                  <a:close/>
                </a:path>
              </a:pathLst>
            </a:custGeom>
            <a:solidFill>
              <a:srgbClr val="00AEEF"/>
            </a:solidFill>
          </p:spPr>
        </p:sp>
        <p:sp>
          <p:nvSpPr>
            <p:cNvPr name="TextBox 8" id="8"/>
            <p:cNvSpPr txBox="true"/>
            <p:nvPr/>
          </p:nvSpPr>
          <p:spPr>
            <a:xfrm>
              <a:off x="0" y="28575"/>
              <a:ext cx="58825" cy="30250"/>
            </a:xfrm>
            <a:prstGeom prst="rect">
              <a:avLst/>
            </a:prstGeom>
          </p:spPr>
          <p:txBody>
            <a:bodyPr anchor="ctr" rtlCol="false" tIns="50800" lIns="50800" bIns="50800" rIns="50800"/>
            <a:lstStyle/>
            <a:p>
              <a:pPr algn="ctr">
                <a:lnSpc>
                  <a:spcPts val="1935"/>
                </a:lnSpc>
              </a:pPr>
            </a:p>
          </p:txBody>
        </p:sp>
      </p:grpSp>
      <p:sp>
        <p:nvSpPr>
          <p:cNvPr name="Freeform 9" id="9"/>
          <p:cNvSpPr/>
          <p:nvPr/>
        </p:nvSpPr>
        <p:spPr>
          <a:xfrm flipH="false" flipV="false" rot="0">
            <a:off x="12572122" y="1891996"/>
            <a:ext cx="3202156" cy="6503009"/>
          </a:xfrm>
          <a:custGeom>
            <a:avLst/>
            <a:gdLst/>
            <a:ahLst/>
            <a:cxnLst/>
            <a:rect r="r" b="b" t="t" l="l"/>
            <a:pathLst>
              <a:path h="6503009" w="3202156">
                <a:moveTo>
                  <a:pt x="0" y="0"/>
                </a:moveTo>
                <a:lnTo>
                  <a:pt x="3202156" y="0"/>
                </a:lnTo>
                <a:lnTo>
                  <a:pt x="3202156" y="6503008"/>
                </a:lnTo>
                <a:lnTo>
                  <a:pt x="0" y="6503008"/>
                </a:lnTo>
                <a:lnTo>
                  <a:pt x="0" y="0"/>
                </a:lnTo>
                <a:close/>
              </a:path>
            </a:pathLst>
          </a:custGeom>
          <a:blipFill>
            <a:blip r:embed="rId5"/>
            <a:stretch>
              <a:fillRect l="0" t="0" r="0" b="0"/>
            </a:stretch>
          </a:blipFill>
        </p:spPr>
      </p:sp>
      <p:grpSp>
        <p:nvGrpSpPr>
          <p:cNvPr name="Group 10" id="10"/>
          <p:cNvGrpSpPr/>
          <p:nvPr/>
        </p:nvGrpSpPr>
        <p:grpSpPr>
          <a:xfrm rot="-2700000">
            <a:off x="12441588" y="8699188"/>
            <a:ext cx="223351" cy="223351"/>
            <a:chOff x="0" y="0"/>
            <a:chExt cx="58825" cy="58825"/>
          </a:xfrm>
        </p:grpSpPr>
        <p:sp>
          <p:nvSpPr>
            <p:cNvPr name="Freeform 11" id="11"/>
            <p:cNvSpPr/>
            <p:nvPr/>
          </p:nvSpPr>
          <p:spPr>
            <a:xfrm flipH="false" flipV="false" rot="0">
              <a:off x="0" y="0"/>
              <a:ext cx="58825" cy="58825"/>
            </a:xfrm>
            <a:custGeom>
              <a:avLst/>
              <a:gdLst/>
              <a:ahLst/>
              <a:cxnLst/>
              <a:rect r="r" b="b" t="t" l="l"/>
              <a:pathLst>
                <a:path h="58825" w="58825">
                  <a:moveTo>
                    <a:pt x="0" y="0"/>
                  </a:moveTo>
                  <a:lnTo>
                    <a:pt x="58825" y="0"/>
                  </a:lnTo>
                  <a:lnTo>
                    <a:pt x="58825" y="58825"/>
                  </a:lnTo>
                  <a:lnTo>
                    <a:pt x="0" y="58825"/>
                  </a:lnTo>
                  <a:close/>
                </a:path>
              </a:pathLst>
            </a:custGeom>
            <a:solidFill>
              <a:srgbClr val="00AEEF"/>
            </a:solidFill>
          </p:spPr>
        </p:sp>
        <p:sp>
          <p:nvSpPr>
            <p:cNvPr name="TextBox 12" id="12"/>
            <p:cNvSpPr txBox="true"/>
            <p:nvPr/>
          </p:nvSpPr>
          <p:spPr>
            <a:xfrm>
              <a:off x="0" y="28575"/>
              <a:ext cx="58825" cy="30250"/>
            </a:xfrm>
            <a:prstGeom prst="rect">
              <a:avLst/>
            </a:prstGeom>
          </p:spPr>
          <p:txBody>
            <a:bodyPr anchor="ctr" rtlCol="false" tIns="50800" lIns="50800" bIns="50800" rIns="50800"/>
            <a:lstStyle/>
            <a:p>
              <a:pPr algn="ctr">
                <a:lnSpc>
                  <a:spcPts val="1935"/>
                </a:lnSpc>
              </a:pPr>
            </a:p>
          </p:txBody>
        </p:sp>
      </p:grpSp>
      <p:sp>
        <p:nvSpPr>
          <p:cNvPr name="Freeform 13" id="13"/>
          <p:cNvSpPr/>
          <p:nvPr/>
        </p:nvSpPr>
        <p:spPr>
          <a:xfrm flipH="false" flipV="false" rot="0">
            <a:off x="7864929" y="2863854"/>
            <a:ext cx="3540570" cy="3738211"/>
          </a:xfrm>
          <a:custGeom>
            <a:avLst/>
            <a:gdLst/>
            <a:ahLst/>
            <a:cxnLst/>
            <a:rect r="r" b="b" t="t" l="l"/>
            <a:pathLst>
              <a:path h="3738211" w="3540570">
                <a:moveTo>
                  <a:pt x="0" y="0"/>
                </a:moveTo>
                <a:lnTo>
                  <a:pt x="3540570" y="0"/>
                </a:lnTo>
                <a:lnTo>
                  <a:pt x="3540570" y="3738211"/>
                </a:lnTo>
                <a:lnTo>
                  <a:pt x="0" y="3738211"/>
                </a:lnTo>
                <a:lnTo>
                  <a:pt x="0" y="0"/>
                </a:lnTo>
                <a:close/>
              </a:path>
            </a:pathLst>
          </a:custGeom>
          <a:blipFill>
            <a:blip r:embed="rId6"/>
            <a:stretch>
              <a:fillRect l="-40776" t="0" r="0" b="0"/>
            </a:stretch>
          </a:blipFill>
        </p:spPr>
      </p:sp>
      <p:sp>
        <p:nvSpPr>
          <p:cNvPr name="TextBox 14" id="14"/>
          <p:cNvSpPr txBox="true"/>
          <p:nvPr/>
        </p:nvSpPr>
        <p:spPr>
          <a:xfrm rot="0">
            <a:off x="1466121" y="6358407"/>
            <a:ext cx="5532090" cy="2598420"/>
          </a:xfrm>
          <a:prstGeom prst="rect">
            <a:avLst/>
          </a:prstGeom>
        </p:spPr>
        <p:txBody>
          <a:bodyPr anchor="t" rtlCol="false" tIns="0" lIns="0" bIns="0" rIns="0">
            <a:spAutoFit/>
          </a:bodyPr>
          <a:lstStyle/>
          <a:p>
            <a:pPr algn="l" marL="0" indent="0" lvl="0">
              <a:lnSpc>
                <a:spcPts val="4199"/>
              </a:lnSpc>
              <a:spcBef>
                <a:spcPct val="0"/>
              </a:spcBef>
            </a:pPr>
            <a:r>
              <a:rPr lang="en-US" sz="2799" spc="-148">
                <a:solidFill>
                  <a:srgbClr val="262262"/>
                </a:solidFill>
                <a:latin typeface="Lexend Deca"/>
                <a:ea typeface="Lexend Deca"/>
                <a:cs typeface="Lexend Deca"/>
                <a:sym typeface="Lexend Deca"/>
              </a:rPr>
              <a:t>Fig-3 : Circuit depicting assembly of Micro-controller ESP-32 with MICS-6814 sensor and BMP180 sensor along with LoRa module for wireless data tranfer </a:t>
            </a:r>
          </a:p>
        </p:txBody>
      </p:sp>
      <p:sp>
        <p:nvSpPr>
          <p:cNvPr name="TextBox 15" id="15"/>
          <p:cNvSpPr txBox="true"/>
          <p:nvPr/>
        </p:nvSpPr>
        <p:spPr>
          <a:xfrm rot="0">
            <a:off x="1297225" y="749304"/>
            <a:ext cx="11098106" cy="2114550"/>
          </a:xfrm>
          <a:prstGeom prst="rect">
            <a:avLst/>
          </a:prstGeom>
        </p:spPr>
        <p:txBody>
          <a:bodyPr anchor="t" rtlCol="false" tIns="0" lIns="0" bIns="0" rIns="0">
            <a:spAutoFit/>
          </a:bodyPr>
          <a:lstStyle/>
          <a:p>
            <a:pPr algn="l" marL="0" indent="0" lvl="0">
              <a:lnSpc>
                <a:spcPts val="8399"/>
              </a:lnSpc>
              <a:spcBef>
                <a:spcPct val="0"/>
              </a:spcBef>
            </a:pPr>
            <a:r>
              <a:rPr lang="en-US" sz="6999" spc="-370">
                <a:solidFill>
                  <a:srgbClr val="262262"/>
                </a:solidFill>
                <a:latin typeface="Lexend Deca"/>
                <a:ea typeface="Lexend Deca"/>
                <a:cs typeface="Lexend Deca"/>
                <a:sym typeface="Lexend Deca"/>
              </a:rPr>
              <a:t>Sensor Assembly and Data Aquisition </a:t>
            </a:r>
          </a:p>
        </p:txBody>
      </p:sp>
      <p:sp>
        <p:nvSpPr>
          <p:cNvPr name="TextBox 16" id="16"/>
          <p:cNvSpPr txBox="true"/>
          <p:nvPr/>
        </p:nvSpPr>
        <p:spPr>
          <a:xfrm rot="0">
            <a:off x="12909519" y="8465876"/>
            <a:ext cx="3163817" cy="1026795"/>
          </a:xfrm>
          <a:prstGeom prst="rect">
            <a:avLst/>
          </a:prstGeom>
        </p:spPr>
        <p:txBody>
          <a:bodyPr anchor="t" rtlCol="false" tIns="0" lIns="0" bIns="0" rIns="0">
            <a:spAutoFit/>
          </a:bodyPr>
          <a:lstStyle/>
          <a:p>
            <a:pPr algn="l" marL="0" indent="0" lvl="0">
              <a:lnSpc>
                <a:spcPts val="4199"/>
              </a:lnSpc>
              <a:spcBef>
                <a:spcPct val="0"/>
              </a:spcBef>
            </a:pPr>
            <a:r>
              <a:rPr lang="en-US" sz="2799" spc="-148">
                <a:solidFill>
                  <a:srgbClr val="262262"/>
                </a:solidFill>
                <a:latin typeface="Lexend Deca"/>
                <a:ea typeface="Lexend Deca"/>
                <a:cs typeface="Lexend Deca"/>
                <a:sym typeface="Lexend Deca"/>
              </a:rPr>
              <a:t>Fig-5 : Data from receiver</a:t>
            </a:r>
          </a:p>
        </p:txBody>
      </p:sp>
      <p:sp>
        <p:nvSpPr>
          <p:cNvPr name="TextBox 17" id="17"/>
          <p:cNvSpPr txBox="true"/>
          <p:nvPr/>
        </p:nvSpPr>
        <p:spPr>
          <a:xfrm rot="0">
            <a:off x="7864929" y="6736319"/>
            <a:ext cx="3540570" cy="2598420"/>
          </a:xfrm>
          <a:prstGeom prst="rect">
            <a:avLst/>
          </a:prstGeom>
        </p:spPr>
        <p:txBody>
          <a:bodyPr anchor="t" rtlCol="false" tIns="0" lIns="0" bIns="0" rIns="0">
            <a:spAutoFit/>
          </a:bodyPr>
          <a:lstStyle/>
          <a:p>
            <a:pPr algn="l" marL="0" indent="0" lvl="0">
              <a:lnSpc>
                <a:spcPts val="4199"/>
              </a:lnSpc>
              <a:spcBef>
                <a:spcPct val="0"/>
              </a:spcBef>
            </a:pPr>
            <a:r>
              <a:rPr lang="en-US" sz="2799" spc="-148">
                <a:solidFill>
                  <a:srgbClr val="262262"/>
                </a:solidFill>
                <a:latin typeface="Lexend Deca"/>
                <a:ea typeface="Lexend Deca"/>
                <a:cs typeface="Lexend Deca"/>
                <a:sym typeface="Lexend Deca"/>
              </a:rPr>
              <a:t>Fig-4 : Data Receiver circuit- Connection of LoRa module with ESP-32 micro-controller  </a:t>
            </a:r>
          </a:p>
        </p:txBody>
      </p:sp>
      <p:grpSp>
        <p:nvGrpSpPr>
          <p:cNvPr name="Group 18" id="18"/>
          <p:cNvGrpSpPr/>
          <p:nvPr/>
        </p:nvGrpSpPr>
        <p:grpSpPr>
          <a:xfrm rot="-2700000">
            <a:off x="7595321" y="6896505"/>
            <a:ext cx="223351" cy="223351"/>
            <a:chOff x="0" y="0"/>
            <a:chExt cx="58825" cy="58825"/>
          </a:xfrm>
        </p:grpSpPr>
        <p:sp>
          <p:nvSpPr>
            <p:cNvPr name="Freeform 19" id="19"/>
            <p:cNvSpPr/>
            <p:nvPr/>
          </p:nvSpPr>
          <p:spPr>
            <a:xfrm flipH="false" flipV="false" rot="0">
              <a:off x="0" y="0"/>
              <a:ext cx="58825" cy="58825"/>
            </a:xfrm>
            <a:custGeom>
              <a:avLst/>
              <a:gdLst/>
              <a:ahLst/>
              <a:cxnLst/>
              <a:rect r="r" b="b" t="t" l="l"/>
              <a:pathLst>
                <a:path h="58825" w="58825">
                  <a:moveTo>
                    <a:pt x="0" y="0"/>
                  </a:moveTo>
                  <a:lnTo>
                    <a:pt x="58825" y="0"/>
                  </a:lnTo>
                  <a:lnTo>
                    <a:pt x="58825" y="58825"/>
                  </a:lnTo>
                  <a:lnTo>
                    <a:pt x="0" y="58825"/>
                  </a:lnTo>
                  <a:close/>
                </a:path>
              </a:pathLst>
            </a:custGeom>
            <a:solidFill>
              <a:srgbClr val="00AEEF"/>
            </a:solidFill>
          </p:spPr>
        </p:sp>
        <p:sp>
          <p:nvSpPr>
            <p:cNvPr name="TextBox 20" id="20"/>
            <p:cNvSpPr txBox="true"/>
            <p:nvPr/>
          </p:nvSpPr>
          <p:spPr>
            <a:xfrm>
              <a:off x="0" y="28575"/>
              <a:ext cx="58825" cy="30250"/>
            </a:xfrm>
            <a:prstGeom prst="rect">
              <a:avLst/>
            </a:prstGeom>
          </p:spPr>
          <p:txBody>
            <a:bodyPr anchor="ctr" rtlCol="false" tIns="50800" lIns="50800" bIns="50800" rIns="50800"/>
            <a:lstStyle/>
            <a:p>
              <a:pPr algn="ctr">
                <a:lnSpc>
                  <a:spcPts val="1935"/>
                </a:lnSpc>
              </a:pPr>
            </a:p>
          </p:txBody>
        </p:sp>
      </p:grpSp>
      <p:sp>
        <p:nvSpPr>
          <p:cNvPr name="Freeform 21" id="21"/>
          <p:cNvSpPr/>
          <p:nvPr/>
        </p:nvSpPr>
        <p:spPr>
          <a:xfrm flipH="false" flipV="true" rot="-10800000">
            <a:off x="16073336" y="8072336"/>
            <a:ext cx="2371928" cy="2371928"/>
          </a:xfrm>
          <a:custGeom>
            <a:avLst/>
            <a:gdLst/>
            <a:ahLst/>
            <a:cxnLst/>
            <a:rect r="r" b="b" t="t" l="l"/>
            <a:pathLst>
              <a:path h="2371928" w="2371928">
                <a:moveTo>
                  <a:pt x="0" y="2371928"/>
                </a:moveTo>
                <a:lnTo>
                  <a:pt x="2371928" y="2371928"/>
                </a:lnTo>
                <a:lnTo>
                  <a:pt x="2371928" y="0"/>
                </a:lnTo>
                <a:lnTo>
                  <a:pt x="0" y="0"/>
                </a:lnTo>
                <a:lnTo>
                  <a:pt x="0" y="2371928"/>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true" flipV="true" rot="0">
            <a:off x="15427146" y="0"/>
            <a:ext cx="3664308" cy="4665207"/>
          </a:xfrm>
          <a:custGeom>
            <a:avLst/>
            <a:gdLst/>
            <a:ahLst/>
            <a:cxnLst/>
            <a:rect r="r" b="b" t="t" l="l"/>
            <a:pathLst>
              <a:path h="4665207" w="3664308">
                <a:moveTo>
                  <a:pt x="3664308" y="4665207"/>
                </a:moveTo>
                <a:lnTo>
                  <a:pt x="0" y="4665207"/>
                </a:lnTo>
                <a:lnTo>
                  <a:pt x="0" y="0"/>
                </a:lnTo>
                <a:lnTo>
                  <a:pt x="3664308" y="0"/>
                </a:lnTo>
                <a:lnTo>
                  <a:pt x="3664308" y="4665207"/>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Buildable Instagram UI Three Dots Icon"/>
          <p:cNvSpPr/>
          <p:nvPr/>
        </p:nvSpPr>
        <p:spPr>
          <a:xfrm flipH="false" flipV="false" rot="0">
            <a:off x="13244065" y="841184"/>
            <a:ext cx="929135" cy="187516"/>
          </a:xfrm>
          <a:custGeom>
            <a:avLst/>
            <a:gdLst/>
            <a:ahLst/>
            <a:cxnLst/>
            <a:rect r="r" b="b" t="t" l="l"/>
            <a:pathLst>
              <a:path h="187516" w="929135">
                <a:moveTo>
                  <a:pt x="0" y="0"/>
                </a:moveTo>
                <a:lnTo>
                  <a:pt x="929135" y="0"/>
                </a:lnTo>
                <a:lnTo>
                  <a:pt x="929135" y="187516"/>
                </a:lnTo>
                <a:lnTo>
                  <a:pt x="0" y="187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700000">
            <a:off x="8827615" y="8494478"/>
            <a:ext cx="632770" cy="632770"/>
            <a:chOff x="0" y="0"/>
            <a:chExt cx="166656" cy="166656"/>
          </a:xfrm>
        </p:grpSpPr>
        <p:sp>
          <p:nvSpPr>
            <p:cNvPr name="Freeform 4" id="4"/>
            <p:cNvSpPr/>
            <p:nvPr/>
          </p:nvSpPr>
          <p:spPr>
            <a:xfrm flipH="false" flipV="false" rot="0">
              <a:off x="0" y="0"/>
              <a:ext cx="166656" cy="166656"/>
            </a:xfrm>
            <a:custGeom>
              <a:avLst/>
              <a:gdLst/>
              <a:ahLst/>
              <a:cxnLst/>
              <a:rect r="r" b="b" t="t" l="l"/>
              <a:pathLst>
                <a:path h="166656" w="166656">
                  <a:moveTo>
                    <a:pt x="0" y="0"/>
                  </a:moveTo>
                  <a:lnTo>
                    <a:pt x="166656" y="0"/>
                  </a:lnTo>
                  <a:lnTo>
                    <a:pt x="166656" y="166656"/>
                  </a:lnTo>
                  <a:lnTo>
                    <a:pt x="0" y="166656"/>
                  </a:lnTo>
                  <a:close/>
                </a:path>
              </a:pathLst>
            </a:custGeom>
            <a:solidFill>
              <a:srgbClr val="00AEEF"/>
            </a:solidFill>
          </p:spPr>
        </p:sp>
        <p:sp>
          <p:nvSpPr>
            <p:cNvPr name="TextBox 5" id="5"/>
            <p:cNvSpPr txBox="true"/>
            <p:nvPr/>
          </p:nvSpPr>
          <p:spPr>
            <a:xfrm>
              <a:off x="0" y="28575"/>
              <a:ext cx="166656" cy="138081"/>
            </a:xfrm>
            <a:prstGeom prst="rect">
              <a:avLst/>
            </a:prstGeom>
          </p:spPr>
          <p:txBody>
            <a:bodyPr anchor="ctr" rtlCol="false" tIns="50800" lIns="50800" bIns="50800" rIns="50800"/>
            <a:lstStyle/>
            <a:p>
              <a:pPr algn="ctr">
                <a:lnSpc>
                  <a:spcPts val="1935"/>
                </a:lnSpc>
              </a:pPr>
            </a:p>
          </p:txBody>
        </p:sp>
      </p:grpSp>
      <p:sp>
        <p:nvSpPr>
          <p:cNvPr name="TextBox 6" id="6"/>
          <p:cNvSpPr txBox="true"/>
          <p:nvPr/>
        </p:nvSpPr>
        <p:spPr>
          <a:xfrm rot="0">
            <a:off x="1028700" y="565150"/>
            <a:ext cx="16230600" cy="993775"/>
          </a:xfrm>
          <a:prstGeom prst="rect">
            <a:avLst/>
          </a:prstGeom>
        </p:spPr>
        <p:txBody>
          <a:bodyPr anchor="t" rtlCol="false" tIns="0" lIns="0" bIns="0" rIns="0">
            <a:spAutoFit/>
          </a:bodyPr>
          <a:lstStyle/>
          <a:p>
            <a:pPr algn="ctr" marL="0" indent="0" lvl="0">
              <a:lnSpc>
                <a:spcPts val="7699"/>
              </a:lnSpc>
            </a:pPr>
            <a:r>
              <a:rPr lang="en-US" sz="6999" spc="-370">
                <a:solidFill>
                  <a:srgbClr val="262262"/>
                </a:solidFill>
                <a:latin typeface="Lexend Deca"/>
                <a:ea typeface="Lexend Deca"/>
                <a:cs typeface="Lexend Deca"/>
                <a:sym typeface="Lexend Deca"/>
              </a:rPr>
              <a:t>App Structure</a:t>
            </a:r>
          </a:p>
        </p:txBody>
      </p:sp>
      <p:sp>
        <p:nvSpPr>
          <p:cNvPr name="Freeform 7" id="7" descr="Buildable Instagram UI Three Dots Icon"/>
          <p:cNvSpPr/>
          <p:nvPr/>
        </p:nvSpPr>
        <p:spPr>
          <a:xfrm flipH="false" flipV="false" rot="0">
            <a:off x="4702269" y="841184"/>
            <a:ext cx="929135" cy="187516"/>
          </a:xfrm>
          <a:custGeom>
            <a:avLst/>
            <a:gdLst/>
            <a:ahLst/>
            <a:cxnLst/>
            <a:rect r="r" b="b" t="t" l="l"/>
            <a:pathLst>
              <a:path h="187516" w="929135">
                <a:moveTo>
                  <a:pt x="0" y="0"/>
                </a:moveTo>
                <a:lnTo>
                  <a:pt x="929135" y="0"/>
                </a:lnTo>
                <a:lnTo>
                  <a:pt x="929135" y="187516"/>
                </a:lnTo>
                <a:lnTo>
                  <a:pt x="0" y="187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1246831" y="1558925"/>
            <a:ext cx="2926369" cy="6079716"/>
          </a:xfrm>
          <a:custGeom>
            <a:avLst/>
            <a:gdLst/>
            <a:ahLst/>
            <a:cxnLst/>
            <a:rect r="r" b="b" t="t" l="l"/>
            <a:pathLst>
              <a:path h="6079716" w="2926369">
                <a:moveTo>
                  <a:pt x="0" y="0"/>
                </a:moveTo>
                <a:lnTo>
                  <a:pt x="2926369" y="0"/>
                </a:lnTo>
                <a:lnTo>
                  <a:pt x="2926369" y="6079716"/>
                </a:lnTo>
                <a:lnTo>
                  <a:pt x="0" y="6079716"/>
                </a:lnTo>
                <a:lnTo>
                  <a:pt x="0" y="0"/>
                </a:lnTo>
                <a:close/>
              </a:path>
            </a:pathLst>
          </a:custGeom>
          <a:blipFill>
            <a:blip r:embed="rId4"/>
            <a:stretch>
              <a:fillRect l="0" t="0" r="0" b="-2212"/>
            </a:stretch>
          </a:blipFill>
        </p:spPr>
      </p:sp>
      <p:sp>
        <p:nvSpPr>
          <p:cNvPr name="Freeform 9" id="9"/>
          <p:cNvSpPr/>
          <p:nvPr/>
        </p:nvSpPr>
        <p:spPr>
          <a:xfrm flipH="false" flipV="false" rot="0">
            <a:off x="14172961" y="2377714"/>
            <a:ext cx="2926369" cy="5985714"/>
          </a:xfrm>
          <a:custGeom>
            <a:avLst/>
            <a:gdLst/>
            <a:ahLst/>
            <a:cxnLst/>
            <a:rect r="r" b="b" t="t" l="l"/>
            <a:pathLst>
              <a:path h="5985714" w="2926369">
                <a:moveTo>
                  <a:pt x="0" y="0"/>
                </a:moveTo>
                <a:lnTo>
                  <a:pt x="2926370" y="0"/>
                </a:lnTo>
                <a:lnTo>
                  <a:pt x="2926370" y="5985713"/>
                </a:lnTo>
                <a:lnTo>
                  <a:pt x="0" y="5985713"/>
                </a:lnTo>
                <a:lnTo>
                  <a:pt x="0" y="0"/>
                </a:lnTo>
                <a:close/>
              </a:path>
            </a:pathLst>
          </a:custGeom>
          <a:blipFill>
            <a:blip r:embed="rId5"/>
            <a:stretch>
              <a:fillRect l="-13217" t="0" r="-14649" b="-6066"/>
            </a:stretch>
          </a:blipFill>
        </p:spPr>
      </p:sp>
      <p:sp>
        <p:nvSpPr>
          <p:cNvPr name="Freeform 10" id="10"/>
          <p:cNvSpPr/>
          <p:nvPr/>
        </p:nvSpPr>
        <p:spPr>
          <a:xfrm flipH="false" flipV="false" rot="0">
            <a:off x="11161067" y="7638641"/>
            <a:ext cx="3011894" cy="1493159"/>
          </a:xfrm>
          <a:custGeom>
            <a:avLst/>
            <a:gdLst/>
            <a:ahLst/>
            <a:cxnLst/>
            <a:rect r="r" b="b" t="t" l="l"/>
            <a:pathLst>
              <a:path h="1493159" w="3011894">
                <a:moveTo>
                  <a:pt x="0" y="0"/>
                </a:moveTo>
                <a:lnTo>
                  <a:pt x="3011894" y="0"/>
                </a:lnTo>
                <a:lnTo>
                  <a:pt x="3011894" y="1493159"/>
                </a:lnTo>
                <a:lnTo>
                  <a:pt x="0" y="1493159"/>
                </a:lnTo>
                <a:lnTo>
                  <a:pt x="0" y="0"/>
                </a:lnTo>
                <a:close/>
              </a:path>
            </a:pathLst>
          </a:custGeom>
          <a:blipFill>
            <a:blip r:embed="rId6"/>
            <a:stretch>
              <a:fillRect l="0" t="0" r="-2855" b="-35625"/>
            </a:stretch>
          </a:blipFill>
        </p:spPr>
      </p:sp>
      <p:sp>
        <p:nvSpPr>
          <p:cNvPr name="Freeform 11" id="11"/>
          <p:cNvSpPr/>
          <p:nvPr/>
        </p:nvSpPr>
        <p:spPr>
          <a:xfrm flipH="false" flipV="false" rot="0">
            <a:off x="1028700" y="1476136"/>
            <a:ext cx="3315032" cy="7250420"/>
          </a:xfrm>
          <a:custGeom>
            <a:avLst/>
            <a:gdLst/>
            <a:ahLst/>
            <a:cxnLst/>
            <a:rect r="r" b="b" t="t" l="l"/>
            <a:pathLst>
              <a:path h="7250420" w="3315032">
                <a:moveTo>
                  <a:pt x="0" y="0"/>
                </a:moveTo>
                <a:lnTo>
                  <a:pt x="3315032" y="0"/>
                </a:lnTo>
                <a:lnTo>
                  <a:pt x="3315032" y="7250421"/>
                </a:lnTo>
                <a:lnTo>
                  <a:pt x="0" y="7250421"/>
                </a:lnTo>
                <a:lnTo>
                  <a:pt x="0" y="0"/>
                </a:lnTo>
                <a:close/>
              </a:path>
            </a:pathLst>
          </a:custGeom>
          <a:blipFill>
            <a:blip r:embed="rId7"/>
            <a:stretch>
              <a:fillRect l="0" t="0" r="0" b="0"/>
            </a:stretch>
          </a:blipFill>
        </p:spPr>
      </p:sp>
      <p:sp>
        <p:nvSpPr>
          <p:cNvPr name="Freeform 12" id="12"/>
          <p:cNvSpPr/>
          <p:nvPr/>
        </p:nvSpPr>
        <p:spPr>
          <a:xfrm flipH="false" flipV="false" rot="0">
            <a:off x="4702269" y="3242627"/>
            <a:ext cx="3184252" cy="4619016"/>
          </a:xfrm>
          <a:custGeom>
            <a:avLst/>
            <a:gdLst/>
            <a:ahLst/>
            <a:cxnLst/>
            <a:rect r="r" b="b" t="t" l="l"/>
            <a:pathLst>
              <a:path h="4619016" w="3184252">
                <a:moveTo>
                  <a:pt x="0" y="0"/>
                </a:moveTo>
                <a:lnTo>
                  <a:pt x="3184252" y="0"/>
                </a:lnTo>
                <a:lnTo>
                  <a:pt x="3184252" y="4619016"/>
                </a:lnTo>
                <a:lnTo>
                  <a:pt x="0" y="4619016"/>
                </a:lnTo>
                <a:lnTo>
                  <a:pt x="0" y="0"/>
                </a:lnTo>
                <a:close/>
              </a:path>
            </a:pathLst>
          </a:custGeom>
          <a:blipFill>
            <a:blip r:embed="rId8"/>
            <a:stretch>
              <a:fillRect l="0" t="0" r="0" b="0"/>
            </a:stretch>
          </a:blipFill>
        </p:spPr>
      </p:sp>
      <p:sp>
        <p:nvSpPr>
          <p:cNvPr name="Freeform 13" id="13"/>
          <p:cNvSpPr/>
          <p:nvPr/>
        </p:nvSpPr>
        <p:spPr>
          <a:xfrm flipH="false" flipV="false" rot="0">
            <a:off x="4702269" y="2568992"/>
            <a:ext cx="3184252" cy="672310"/>
          </a:xfrm>
          <a:custGeom>
            <a:avLst/>
            <a:gdLst/>
            <a:ahLst/>
            <a:cxnLst/>
            <a:rect r="r" b="b" t="t" l="l"/>
            <a:pathLst>
              <a:path h="672310" w="3184252">
                <a:moveTo>
                  <a:pt x="0" y="0"/>
                </a:moveTo>
                <a:lnTo>
                  <a:pt x="3184252" y="0"/>
                </a:lnTo>
                <a:lnTo>
                  <a:pt x="3184252" y="672310"/>
                </a:lnTo>
                <a:lnTo>
                  <a:pt x="0" y="672310"/>
                </a:lnTo>
                <a:lnTo>
                  <a:pt x="0" y="0"/>
                </a:lnTo>
                <a:close/>
              </a:path>
            </a:pathLst>
          </a:custGeom>
          <a:blipFill>
            <a:blip r:embed="rId9"/>
            <a:stretch>
              <a:fillRect l="0" t="0" r="-70872" b="0"/>
            </a:stretch>
          </a:blipFill>
        </p:spPr>
      </p:sp>
      <p:sp>
        <p:nvSpPr>
          <p:cNvPr name="Freeform 14" id="14"/>
          <p:cNvSpPr/>
          <p:nvPr/>
        </p:nvSpPr>
        <p:spPr>
          <a:xfrm flipH="false" flipV="false" rot="0">
            <a:off x="8248471" y="2308701"/>
            <a:ext cx="2500061" cy="5304951"/>
          </a:xfrm>
          <a:custGeom>
            <a:avLst/>
            <a:gdLst/>
            <a:ahLst/>
            <a:cxnLst/>
            <a:rect r="r" b="b" t="t" l="l"/>
            <a:pathLst>
              <a:path h="5304951" w="2500061">
                <a:moveTo>
                  <a:pt x="0" y="0"/>
                </a:moveTo>
                <a:lnTo>
                  <a:pt x="2500061" y="0"/>
                </a:lnTo>
                <a:lnTo>
                  <a:pt x="2500061" y="5304950"/>
                </a:lnTo>
                <a:lnTo>
                  <a:pt x="0" y="5304950"/>
                </a:lnTo>
                <a:lnTo>
                  <a:pt x="0" y="0"/>
                </a:lnTo>
                <a:close/>
              </a:path>
            </a:pathLst>
          </a:custGeom>
          <a:blipFill>
            <a:blip r:embed="rId10"/>
            <a:stretch>
              <a:fillRect l="0" t="-4528" r="0" b="0"/>
            </a:stretch>
          </a:blipFill>
        </p:spPr>
      </p:sp>
      <p:sp>
        <p:nvSpPr>
          <p:cNvPr name="Freeform 15" id="15"/>
          <p:cNvSpPr/>
          <p:nvPr/>
        </p:nvSpPr>
        <p:spPr>
          <a:xfrm flipH="false" flipV="false" rot="-4062061">
            <a:off x="6572104" y="6084024"/>
            <a:ext cx="1918211" cy="763797"/>
          </a:xfrm>
          <a:custGeom>
            <a:avLst/>
            <a:gdLst/>
            <a:ahLst/>
            <a:cxnLst/>
            <a:rect r="r" b="b" t="t" l="l"/>
            <a:pathLst>
              <a:path h="763797" w="1918211">
                <a:moveTo>
                  <a:pt x="0" y="0"/>
                </a:moveTo>
                <a:lnTo>
                  <a:pt x="1918211" y="0"/>
                </a:lnTo>
                <a:lnTo>
                  <a:pt x="1918211" y="763797"/>
                </a:lnTo>
                <a:lnTo>
                  <a:pt x="0" y="7637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pic>
        <p:nvPicPr>
          <p:cNvPr name="Picture 16" id="16"/>
          <p:cNvPicPr>
            <a:picLocks noChangeAspect="true"/>
          </p:cNvPicPr>
          <p:nvPr/>
        </p:nvPicPr>
        <p:blipFill>
          <a:blip r:embed="rId13"/>
          <a:srcRect l="0" t="0" r="0" b="0"/>
          <a:stretch>
            <a:fillRect/>
          </a:stretch>
        </p:blipFill>
        <p:spPr>
          <a:xfrm flipH="false" flipV="false" rot="0">
            <a:off x="6813949" y="7329900"/>
            <a:ext cx="717261" cy="788199"/>
          </a:xfrm>
          <a:prstGeom prst="rect">
            <a:avLst/>
          </a:prstGeom>
        </p:spPr>
      </p:pic>
      <p:pic>
        <p:nvPicPr>
          <p:cNvPr name="Picture 17" id="17"/>
          <p:cNvPicPr>
            <a:picLocks noChangeAspect="true"/>
          </p:cNvPicPr>
          <p:nvPr/>
        </p:nvPicPr>
        <p:blipFill>
          <a:blip r:embed="rId13"/>
          <a:srcRect l="0" t="0" r="0" b="0"/>
          <a:stretch>
            <a:fillRect/>
          </a:stretch>
        </p:blipFill>
        <p:spPr>
          <a:xfrm flipH="false" flipV="false" rot="0">
            <a:off x="2475586" y="7498210"/>
            <a:ext cx="717261" cy="788199"/>
          </a:xfrm>
          <a:prstGeom prst="rect">
            <a:avLst/>
          </a:prstGeom>
        </p:spPr>
      </p:pic>
      <p:sp>
        <p:nvSpPr>
          <p:cNvPr name="Freeform 18" id="18"/>
          <p:cNvSpPr/>
          <p:nvPr/>
        </p:nvSpPr>
        <p:spPr>
          <a:xfrm flipH="false" flipV="false" rot="5691217">
            <a:off x="1760785" y="3920779"/>
            <a:ext cx="712341" cy="428700"/>
          </a:xfrm>
          <a:custGeom>
            <a:avLst/>
            <a:gdLst/>
            <a:ahLst/>
            <a:cxnLst/>
            <a:rect r="r" b="b" t="t" l="l"/>
            <a:pathLst>
              <a:path h="428700" w="712341">
                <a:moveTo>
                  <a:pt x="0" y="0"/>
                </a:moveTo>
                <a:lnTo>
                  <a:pt x="712340" y="0"/>
                </a:lnTo>
                <a:lnTo>
                  <a:pt x="712340" y="428699"/>
                </a:lnTo>
                <a:lnTo>
                  <a:pt x="0" y="42869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pic>
        <p:nvPicPr>
          <p:cNvPr name="Picture 19" id="19"/>
          <p:cNvPicPr>
            <a:picLocks noChangeAspect="true"/>
          </p:cNvPicPr>
          <p:nvPr/>
        </p:nvPicPr>
        <p:blipFill>
          <a:blip r:embed="rId13"/>
          <a:srcRect l="0" t="0" r="0" b="0"/>
          <a:stretch>
            <a:fillRect/>
          </a:stretch>
        </p:blipFill>
        <p:spPr>
          <a:xfrm flipH="false" flipV="false" rot="0">
            <a:off x="1873238" y="3968419"/>
            <a:ext cx="717261" cy="788199"/>
          </a:xfrm>
          <a:prstGeom prst="rect">
            <a:avLst/>
          </a:prstGeom>
        </p:spPr>
      </p:pic>
      <p:sp>
        <p:nvSpPr>
          <p:cNvPr name="Freeform 20" id="20"/>
          <p:cNvSpPr/>
          <p:nvPr/>
        </p:nvSpPr>
        <p:spPr>
          <a:xfrm flipH="false" flipV="false" rot="-1905425">
            <a:off x="2004783" y="1931609"/>
            <a:ext cx="2472097" cy="1559669"/>
          </a:xfrm>
          <a:custGeom>
            <a:avLst/>
            <a:gdLst/>
            <a:ahLst/>
            <a:cxnLst/>
            <a:rect r="r" b="b" t="t" l="l"/>
            <a:pathLst>
              <a:path h="1559669" w="2472097">
                <a:moveTo>
                  <a:pt x="0" y="0"/>
                </a:moveTo>
                <a:lnTo>
                  <a:pt x="2472097" y="0"/>
                </a:lnTo>
                <a:lnTo>
                  <a:pt x="2472097" y="1559668"/>
                </a:lnTo>
                <a:lnTo>
                  <a:pt x="0" y="155966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1" id="21"/>
          <p:cNvSpPr/>
          <p:nvPr/>
        </p:nvSpPr>
        <p:spPr>
          <a:xfrm flipH="false" flipV="false" rot="-2700000">
            <a:off x="7944676" y="7049757"/>
            <a:ext cx="2627341" cy="2627341"/>
          </a:xfrm>
          <a:custGeom>
            <a:avLst/>
            <a:gdLst/>
            <a:ahLst/>
            <a:cxnLst/>
            <a:rect r="r" b="b" t="t" l="l"/>
            <a:pathLst>
              <a:path h="2627341" w="2627341">
                <a:moveTo>
                  <a:pt x="0" y="0"/>
                </a:moveTo>
                <a:lnTo>
                  <a:pt x="2627341" y="0"/>
                </a:lnTo>
                <a:lnTo>
                  <a:pt x="2627341" y="2627341"/>
                </a:lnTo>
                <a:lnTo>
                  <a:pt x="0" y="262734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2" id="22"/>
          <p:cNvSpPr/>
          <p:nvPr/>
        </p:nvSpPr>
        <p:spPr>
          <a:xfrm flipH="false" flipV="true" rot="8942467">
            <a:off x="3654025" y="6748591"/>
            <a:ext cx="3416006" cy="2739016"/>
          </a:xfrm>
          <a:custGeom>
            <a:avLst/>
            <a:gdLst/>
            <a:ahLst/>
            <a:cxnLst/>
            <a:rect r="r" b="b" t="t" l="l"/>
            <a:pathLst>
              <a:path h="2739016" w="3416006">
                <a:moveTo>
                  <a:pt x="0" y="2739016"/>
                </a:moveTo>
                <a:lnTo>
                  <a:pt x="3416006" y="2739016"/>
                </a:lnTo>
                <a:lnTo>
                  <a:pt x="3416006" y="0"/>
                </a:lnTo>
                <a:lnTo>
                  <a:pt x="0" y="0"/>
                </a:lnTo>
                <a:lnTo>
                  <a:pt x="0" y="2739016"/>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3" id="23"/>
          <p:cNvSpPr/>
          <p:nvPr/>
        </p:nvSpPr>
        <p:spPr>
          <a:xfrm flipH="false" flipV="false" rot="-10800000">
            <a:off x="15913367" y="5786"/>
            <a:ext cx="2371928" cy="2371928"/>
          </a:xfrm>
          <a:custGeom>
            <a:avLst/>
            <a:gdLst/>
            <a:ahLst/>
            <a:cxnLst/>
            <a:rect r="r" b="b" t="t" l="l"/>
            <a:pathLst>
              <a:path h="2371928" w="2371928">
                <a:moveTo>
                  <a:pt x="0" y="0"/>
                </a:moveTo>
                <a:lnTo>
                  <a:pt x="2371927" y="0"/>
                </a:lnTo>
                <a:lnTo>
                  <a:pt x="2371927" y="2371928"/>
                </a:lnTo>
                <a:lnTo>
                  <a:pt x="0" y="2371928"/>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4" id="24" descr="Corner Geometric Shape Illustration"/>
          <p:cNvSpPr/>
          <p:nvPr/>
        </p:nvSpPr>
        <p:spPr>
          <a:xfrm flipH="true" flipV="false" rot="5400000">
            <a:off x="496957" y="6669157"/>
            <a:ext cx="3120887" cy="4114800"/>
          </a:xfrm>
          <a:custGeom>
            <a:avLst/>
            <a:gdLst/>
            <a:ahLst/>
            <a:cxnLst/>
            <a:rect r="r" b="b" t="t" l="l"/>
            <a:pathLst>
              <a:path h="4114800" w="3120887">
                <a:moveTo>
                  <a:pt x="3120886" y="0"/>
                </a:moveTo>
                <a:lnTo>
                  <a:pt x="0" y="0"/>
                </a:lnTo>
                <a:lnTo>
                  <a:pt x="0" y="4114800"/>
                </a:lnTo>
                <a:lnTo>
                  <a:pt x="3120886" y="4114800"/>
                </a:lnTo>
                <a:lnTo>
                  <a:pt x="3120886"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Tree>
  </p:cSld>
  <p:clrMapOvr>
    <a:masterClrMapping/>
  </p:clrMapOvr>
  <p:transition spd="fast">
    <p:cover dir="d"/>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368563" y="3837388"/>
            <a:ext cx="19244709" cy="0"/>
          </a:xfrm>
          <a:prstGeom prst="line">
            <a:avLst/>
          </a:prstGeom>
          <a:ln cap="flat" w="9525">
            <a:solidFill>
              <a:srgbClr val="262262"/>
            </a:solidFill>
            <a:prstDash val="solid"/>
            <a:headEnd type="none" len="sm" w="sm"/>
            <a:tailEnd type="none" len="sm" w="sm"/>
          </a:ln>
        </p:spPr>
      </p:sp>
      <p:grpSp>
        <p:nvGrpSpPr>
          <p:cNvPr name="Group 3" id="3"/>
          <p:cNvGrpSpPr/>
          <p:nvPr/>
        </p:nvGrpSpPr>
        <p:grpSpPr>
          <a:xfrm rot="0">
            <a:off x="6024747" y="3592286"/>
            <a:ext cx="1155719" cy="490204"/>
            <a:chOff x="0" y="0"/>
            <a:chExt cx="304387" cy="129107"/>
          </a:xfrm>
        </p:grpSpPr>
        <p:sp>
          <p:nvSpPr>
            <p:cNvPr name="Freeform 4" id="4"/>
            <p:cNvSpPr/>
            <p:nvPr/>
          </p:nvSpPr>
          <p:spPr>
            <a:xfrm flipH="false" flipV="false" rot="0">
              <a:off x="0" y="0"/>
              <a:ext cx="304387" cy="129107"/>
            </a:xfrm>
            <a:custGeom>
              <a:avLst/>
              <a:gdLst/>
              <a:ahLst/>
              <a:cxnLst/>
              <a:rect r="r" b="b" t="t" l="l"/>
              <a:pathLst>
                <a:path h="129107" w="304387">
                  <a:moveTo>
                    <a:pt x="0" y="0"/>
                  </a:moveTo>
                  <a:lnTo>
                    <a:pt x="304387" y="0"/>
                  </a:lnTo>
                  <a:lnTo>
                    <a:pt x="304387" y="129107"/>
                  </a:lnTo>
                  <a:lnTo>
                    <a:pt x="0" y="129107"/>
                  </a:lnTo>
                  <a:close/>
                </a:path>
              </a:pathLst>
            </a:custGeom>
            <a:solidFill>
              <a:srgbClr val="262262"/>
            </a:solidFill>
          </p:spPr>
        </p:sp>
        <p:sp>
          <p:nvSpPr>
            <p:cNvPr name="TextBox 5" id="5"/>
            <p:cNvSpPr txBox="true"/>
            <p:nvPr/>
          </p:nvSpPr>
          <p:spPr>
            <a:xfrm>
              <a:off x="0" y="28575"/>
              <a:ext cx="304387" cy="100532"/>
            </a:xfrm>
            <a:prstGeom prst="rect">
              <a:avLst/>
            </a:prstGeom>
          </p:spPr>
          <p:txBody>
            <a:bodyPr anchor="ctr" rtlCol="false" tIns="50800" lIns="50800" bIns="50800" rIns="50800"/>
            <a:lstStyle/>
            <a:p>
              <a:pPr algn="ctr">
                <a:lnSpc>
                  <a:spcPts val="1935"/>
                </a:lnSpc>
              </a:pPr>
              <a:r>
                <a:rPr lang="en-US" sz="1861" spc="-98">
                  <a:solidFill>
                    <a:srgbClr val="FFFFFF"/>
                  </a:solidFill>
                  <a:latin typeface="Lexend Deca"/>
                  <a:ea typeface="Lexend Deca"/>
                  <a:cs typeface="Lexend Deca"/>
                  <a:sym typeface="Lexend Deca"/>
                </a:rPr>
                <a:t>2</a:t>
              </a:r>
            </a:p>
          </p:txBody>
        </p:sp>
      </p:grpSp>
      <p:grpSp>
        <p:nvGrpSpPr>
          <p:cNvPr name="Group 6" id="6"/>
          <p:cNvGrpSpPr/>
          <p:nvPr/>
        </p:nvGrpSpPr>
        <p:grpSpPr>
          <a:xfrm rot="0">
            <a:off x="10333241" y="3592286"/>
            <a:ext cx="1155719" cy="490204"/>
            <a:chOff x="0" y="0"/>
            <a:chExt cx="304387" cy="129107"/>
          </a:xfrm>
        </p:grpSpPr>
        <p:sp>
          <p:nvSpPr>
            <p:cNvPr name="Freeform 7" id="7"/>
            <p:cNvSpPr/>
            <p:nvPr/>
          </p:nvSpPr>
          <p:spPr>
            <a:xfrm flipH="false" flipV="false" rot="0">
              <a:off x="0" y="0"/>
              <a:ext cx="304387" cy="129107"/>
            </a:xfrm>
            <a:custGeom>
              <a:avLst/>
              <a:gdLst/>
              <a:ahLst/>
              <a:cxnLst/>
              <a:rect r="r" b="b" t="t" l="l"/>
              <a:pathLst>
                <a:path h="129107" w="304387">
                  <a:moveTo>
                    <a:pt x="0" y="0"/>
                  </a:moveTo>
                  <a:lnTo>
                    <a:pt x="304387" y="0"/>
                  </a:lnTo>
                  <a:lnTo>
                    <a:pt x="304387" y="129107"/>
                  </a:lnTo>
                  <a:lnTo>
                    <a:pt x="0" y="129107"/>
                  </a:lnTo>
                  <a:close/>
                </a:path>
              </a:pathLst>
            </a:custGeom>
            <a:solidFill>
              <a:srgbClr val="262262"/>
            </a:solidFill>
          </p:spPr>
        </p:sp>
        <p:sp>
          <p:nvSpPr>
            <p:cNvPr name="TextBox 8" id="8"/>
            <p:cNvSpPr txBox="true"/>
            <p:nvPr/>
          </p:nvSpPr>
          <p:spPr>
            <a:xfrm>
              <a:off x="0" y="28575"/>
              <a:ext cx="304387" cy="100532"/>
            </a:xfrm>
            <a:prstGeom prst="rect">
              <a:avLst/>
            </a:prstGeom>
          </p:spPr>
          <p:txBody>
            <a:bodyPr anchor="ctr" rtlCol="false" tIns="50800" lIns="50800" bIns="50800" rIns="50800"/>
            <a:lstStyle/>
            <a:p>
              <a:pPr algn="ctr">
                <a:lnSpc>
                  <a:spcPts val="1935"/>
                </a:lnSpc>
              </a:pPr>
              <a:r>
                <a:rPr lang="en-US" sz="1861" spc="-98">
                  <a:solidFill>
                    <a:srgbClr val="FFFFFF"/>
                  </a:solidFill>
                  <a:latin typeface="Lexend Deca"/>
                  <a:ea typeface="Lexend Deca"/>
                  <a:cs typeface="Lexend Deca"/>
                  <a:sym typeface="Lexend Deca"/>
                </a:rPr>
                <a:t>3</a:t>
              </a:r>
            </a:p>
          </p:txBody>
        </p:sp>
      </p:grpSp>
      <p:grpSp>
        <p:nvGrpSpPr>
          <p:cNvPr name="Group 9" id="9"/>
          <p:cNvGrpSpPr/>
          <p:nvPr/>
        </p:nvGrpSpPr>
        <p:grpSpPr>
          <a:xfrm rot="0">
            <a:off x="14637236" y="3592286"/>
            <a:ext cx="1155719" cy="490204"/>
            <a:chOff x="0" y="0"/>
            <a:chExt cx="304387" cy="129107"/>
          </a:xfrm>
        </p:grpSpPr>
        <p:sp>
          <p:nvSpPr>
            <p:cNvPr name="Freeform 10" id="10"/>
            <p:cNvSpPr/>
            <p:nvPr/>
          </p:nvSpPr>
          <p:spPr>
            <a:xfrm flipH="false" flipV="false" rot="0">
              <a:off x="0" y="0"/>
              <a:ext cx="304387" cy="129107"/>
            </a:xfrm>
            <a:custGeom>
              <a:avLst/>
              <a:gdLst/>
              <a:ahLst/>
              <a:cxnLst/>
              <a:rect r="r" b="b" t="t" l="l"/>
              <a:pathLst>
                <a:path h="129107" w="304387">
                  <a:moveTo>
                    <a:pt x="0" y="0"/>
                  </a:moveTo>
                  <a:lnTo>
                    <a:pt x="304387" y="0"/>
                  </a:lnTo>
                  <a:lnTo>
                    <a:pt x="304387" y="129107"/>
                  </a:lnTo>
                  <a:lnTo>
                    <a:pt x="0" y="129107"/>
                  </a:lnTo>
                  <a:close/>
                </a:path>
              </a:pathLst>
            </a:custGeom>
            <a:solidFill>
              <a:srgbClr val="262262"/>
            </a:solidFill>
          </p:spPr>
        </p:sp>
        <p:sp>
          <p:nvSpPr>
            <p:cNvPr name="TextBox 11" id="11"/>
            <p:cNvSpPr txBox="true"/>
            <p:nvPr/>
          </p:nvSpPr>
          <p:spPr>
            <a:xfrm>
              <a:off x="0" y="28575"/>
              <a:ext cx="304387" cy="100532"/>
            </a:xfrm>
            <a:prstGeom prst="rect">
              <a:avLst/>
            </a:prstGeom>
          </p:spPr>
          <p:txBody>
            <a:bodyPr anchor="ctr" rtlCol="false" tIns="50800" lIns="50800" bIns="50800" rIns="50800"/>
            <a:lstStyle/>
            <a:p>
              <a:pPr algn="ctr">
                <a:lnSpc>
                  <a:spcPts val="1935"/>
                </a:lnSpc>
              </a:pPr>
              <a:r>
                <a:rPr lang="en-US" sz="1861" spc="-98">
                  <a:solidFill>
                    <a:srgbClr val="FFFFFF"/>
                  </a:solidFill>
                  <a:latin typeface="Lexend Deca"/>
                  <a:ea typeface="Lexend Deca"/>
                  <a:cs typeface="Lexend Deca"/>
                  <a:sym typeface="Lexend Deca"/>
                </a:rPr>
                <a:t>4</a:t>
              </a:r>
            </a:p>
          </p:txBody>
        </p:sp>
      </p:grpSp>
      <p:sp>
        <p:nvSpPr>
          <p:cNvPr name="Freeform 12" id="12"/>
          <p:cNvSpPr/>
          <p:nvPr/>
        </p:nvSpPr>
        <p:spPr>
          <a:xfrm flipH="false" flipV="false" rot="0">
            <a:off x="6494529" y="606564"/>
            <a:ext cx="929135" cy="187516"/>
          </a:xfrm>
          <a:custGeom>
            <a:avLst/>
            <a:gdLst/>
            <a:ahLst/>
            <a:cxnLst/>
            <a:rect r="r" b="b" t="t" l="l"/>
            <a:pathLst>
              <a:path h="187516" w="929135">
                <a:moveTo>
                  <a:pt x="0" y="0"/>
                </a:moveTo>
                <a:lnTo>
                  <a:pt x="929136" y="0"/>
                </a:lnTo>
                <a:lnTo>
                  <a:pt x="929136" y="187517"/>
                </a:lnTo>
                <a:lnTo>
                  <a:pt x="0" y="1875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1519815" y="3592286"/>
            <a:ext cx="1155719" cy="490204"/>
            <a:chOff x="0" y="0"/>
            <a:chExt cx="304387" cy="129107"/>
          </a:xfrm>
        </p:grpSpPr>
        <p:sp>
          <p:nvSpPr>
            <p:cNvPr name="Freeform 14" id="14"/>
            <p:cNvSpPr/>
            <p:nvPr/>
          </p:nvSpPr>
          <p:spPr>
            <a:xfrm flipH="false" flipV="false" rot="0">
              <a:off x="0" y="0"/>
              <a:ext cx="304387" cy="129107"/>
            </a:xfrm>
            <a:custGeom>
              <a:avLst/>
              <a:gdLst/>
              <a:ahLst/>
              <a:cxnLst/>
              <a:rect r="r" b="b" t="t" l="l"/>
              <a:pathLst>
                <a:path h="129107" w="304387">
                  <a:moveTo>
                    <a:pt x="0" y="0"/>
                  </a:moveTo>
                  <a:lnTo>
                    <a:pt x="304387" y="0"/>
                  </a:lnTo>
                  <a:lnTo>
                    <a:pt x="304387" y="129107"/>
                  </a:lnTo>
                  <a:lnTo>
                    <a:pt x="0" y="129107"/>
                  </a:lnTo>
                  <a:close/>
                </a:path>
              </a:pathLst>
            </a:custGeom>
            <a:solidFill>
              <a:srgbClr val="262262"/>
            </a:solidFill>
          </p:spPr>
        </p:sp>
        <p:sp>
          <p:nvSpPr>
            <p:cNvPr name="TextBox 15" id="15"/>
            <p:cNvSpPr txBox="true"/>
            <p:nvPr/>
          </p:nvSpPr>
          <p:spPr>
            <a:xfrm>
              <a:off x="0" y="28575"/>
              <a:ext cx="304387" cy="100532"/>
            </a:xfrm>
            <a:prstGeom prst="rect">
              <a:avLst/>
            </a:prstGeom>
          </p:spPr>
          <p:txBody>
            <a:bodyPr anchor="ctr" rtlCol="false" tIns="50800" lIns="50800" bIns="50800" rIns="50800"/>
            <a:lstStyle/>
            <a:p>
              <a:pPr algn="ctr">
                <a:lnSpc>
                  <a:spcPts val="1935"/>
                </a:lnSpc>
              </a:pPr>
              <a:r>
                <a:rPr lang="en-US" sz="1861" spc="-98">
                  <a:solidFill>
                    <a:srgbClr val="FFFFFF"/>
                  </a:solidFill>
                  <a:latin typeface="Lexend Deca"/>
                  <a:ea typeface="Lexend Deca"/>
                  <a:cs typeface="Lexend Deca"/>
                  <a:sym typeface="Lexend Deca"/>
                </a:rPr>
                <a:t>1</a:t>
              </a:r>
            </a:p>
          </p:txBody>
        </p:sp>
      </p:grpSp>
      <p:grpSp>
        <p:nvGrpSpPr>
          <p:cNvPr name="Group 16" id="16"/>
          <p:cNvGrpSpPr/>
          <p:nvPr/>
        </p:nvGrpSpPr>
        <p:grpSpPr>
          <a:xfrm rot="-2700000">
            <a:off x="535374" y="5945525"/>
            <a:ext cx="149208" cy="149208"/>
            <a:chOff x="0" y="0"/>
            <a:chExt cx="39298" cy="39298"/>
          </a:xfrm>
        </p:grpSpPr>
        <p:sp>
          <p:nvSpPr>
            <p:cNvPr name="Freeform 17" id="17"/>
            <p:cNvSpPr/>
            <p:nvPr/>
          </p:nvSpPr>
          <p:spPr>
            <a:xfrm flipH="false" flipV="false" rot="0">
              <a:off x="0" y="0"/>
              <a:ext cx="39298" cy="39298"/>
            </a:xfrm>
            <a:custGeom>
              <a:avLst/>
              <a:gdLst/>
              <a:ahLst/>
              <a:cxnLst/>
              <a:rect r="r" b="b" t="t" l="l"/>
              <a:pathLst>
                <a:path h="39298" w="39298">
                  <a:moveTo>
                    <a:pt x="0" y="0"/>
                  </a:moveTo>
                  <a:lnTo>
                    <a:pt x="39298" y="0"/>
                  </a:lnTo>
                  <a:lnTo>
                    <a:pt x="39298" y="39298"/>
                  </a:lnTo>
                  <a:lnTo>
                    <a:pt x="0" y="39298"/>
                  </a:lnTo>
                  <a:close/>
                </a:path>
              </a:pathLst>
            </a:custGeom>
            <a:solidFill>
              <a:srgbClr val="00AEEF"/>
            </a:solidFill>
          </p:spPr>
        </p:sp>
        <p:sp>
          <p:nvSpPr>
            <p:cNvPr name="TextBox 18" id="18"/>
            <p:cNvSpPr txBox="true"/>
            <p:nvPr/>
          </p:nvSpPr>
          <p:spPr>
            <a:xfrm>
              <a:off x="0" y="28575"/>
              <a:ext cx="39298" cy="10723"/>
            </a:xfrm>
            <a:prstGeom prst="rect">
              <a:avLst/>
            </a:prstGeom>
          </p:spPr>
          <p:txBody>
            <a:bodyPr anchor="ctr" rtlCol="false" tIns="50800" lIns="50800" bIns="50800" rIns="50800"/>
            <a:lstStyle/>
            <a:p>
              <a:pPr algn="ctr">
                <a:lnSpc>
                  <a:spcPts val="1935"/>
                </a:lnSpc>
              </a:pPr>
            </a:p>
          </p:txBody>
        </p:sp>
      </p:grpSp>
      <p:sp>
        <p:nvSpPr>
          <p:cNvPr name="Freeform 19" id="19"/>
          <p:cNvSpPr/>
          <p:nvPr/>
        </p:nvSpPr>
        <p:spPr>
          <a:xfrm flipH="false" flipV="false" rot="0">
            <a:off x="504471" y="4392922"/>
            <a:ext cx="4015343" cy="969250"/>
          </a:xfrm>
          <a:custGeom>
            <a:avLst/>
            <a:gdLst/>
            <a:ahLst/>
            <a:cxnLst/>
            <a:rect r="r" b="b" t="t" l="l"/>
            <a:pathLst>
              <a:path h="969250" w="4015343">
                <a:moveTo>
                  <a:pt x="0" y="0"/>
                </a:moveTo>
                <a:lnTo>
                  <a:pt x="4015343" y="0"/>
                </a:lnTo>
                <a:lnTo>
                  <a:pt x="4015343" y="969250"/>
                </a:lnTo>
                <a:lnTo>
                  <a:pt x="0" y="969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4891819" y="4385631"/>
            <a:ext cx="4404452" cy="1063176"/>
          </a:xfrm>
          <a:custGeom>
            <a:avLst/>
            <a:gdLst/>
            <a:ahLst/>
            <a:cxnLst/>
            <a:rect r="r" b="b" t="t" l="l"/>
            <a:pathLst>
              <a:path h="1063176" w="4404452">
                <a:moveTo>
                  <a:pt x="0" y="0"/>
                </a:moveTo>
                <a:lnTo>
                  <a:pt x="4404451" y="0"/>
                </a:lnTo>
                <a:lnTo>
                  <a:pt x="4404451" y="1063176"/>
                </a:lnTo>
                <a:lnTo>
                  <a:pt x="0" y="10631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9367508" y="4472265"/>
            <a:ext cx="3686646" cy="889907"/>
          </a:xfrm>
          <a:custGeom>
            <a:avLst/>
            <a:gdLst/>
            <a:ahLst/>
            <a:cxnLst/>
            <a:rect r="r" b="b" t="t" l="l"/>
            <a:pathLst>
              <a:path h="889907" w="3686646">
                <a:moveTo>
                  <a:pt x="0" y="0"/>
                </a:moveTo>
                <a:lnTo>
                  <a:pt x="3686645" y="0"/>
                </a:lnTo>
                <a:lnTo>
                  <a:pt x="3686645" y="889907"/>
                </a:lnTo>
                <a:lnTo>
                  <a:pt x="0" y="8899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13371773" y="4432594"/>
            <a:ext cx="3686646" cy="889907"/>
          </a:xfrm>
          <a:custGeom>
            <a:avLst/>
            <a:gdLst/>
            <a:ahLst/>
            <a:cxnLst/>
            <a:rect r="r" b="b" t="t" l="l"/>
            <a:pathLst>
              <a:path h="889907" w="3686646">
                <a:moveTo>
                  <a:pt x="0" y="0"/>
                </a:moveTo>
                <a:lnTo>
                  <a:pt x="3686645" y="0"/>
                </a:lnTo>
                <a:lnTo>
                  <a:pt x="3686645" y="889907"/>
                </a:lnTo>
                <a:lnTo>
                  <a:pt x="0" y="8899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1028700" y="1470356"/>
            <a:ext cx="7515225" cy="772795"/>
          </a:xfrm>
          <a:prstGeom prst="rect">
            <a:avLst/>
          </a:prstGeom>
        </p:spPr>
        <p:txBody>
          <a:bodyPr anchor="t" rtlCol="false" tIns="0" lIns="0" bIns="0" rIns="0">
            <a:spAutoFit/>
          </a:bodyPr>
          <a:lstStyle/>
          <a:p>
            <a:pPr algn="l">
              <a:lnSpc>
                <a:spcPts val="5389"/>
              </a:lnSpc>
            </a:pPr>
            <a:r>
              <a:rPr lang="en-US" sz="6999" spc="-370">
                <a:solidFill>
                  <a:srgbClr val="262262"/>
                </a:solidFill>
                <a:latin typeface="Lexend Deca"/>
                <a:ea typeface="Lexend Deca"/>
                <a:cs typeface="Lexend Deca"/>
                <a:sym typeface="Lexend Deca"/>
              </a:rPr>
              <a:t>Milestones</a:t>
            </a:r>
          </a:p>
        </p:txBody>
      </p:sp>
      <p:sp>
        <p:nvSpPr>
          <p:cNvPr name="TextBox 24" id="24"/>
          <p:cNvSpPr txBox="true"/>
          <p:nvPr/>
        </p:nvSpPr>
        <p:spPr>
          <a:xfrm rot="0">
            <a:off x="831254" y="5838422"/>
            <a:ext cx="3688560" cy="2607379"/>
          </a:xfrm>
          <a:prstGeom prst="rect">
            <a:avLst/>
          </a:prstGeom>
        </p:spPr>
        <p:txBody>
          <a:bodyPr anchor="t" rtlCol="false" tIns="0" lIns="0" bIns="0" rIns="0">
            <a:spAutoFit/>
          </a:bodyPr>
          <a:lstStyle/>
          <a:p>
            <a:pPr algn="l">
              <a:lnSpc>
                <a:spcPts val="2928"/>
              </a:lnSpc>
            </a:pPr>
            <a:r>
              <a:rPr lang="en-US" sz="2361" spc="-125">
                <a:solidFill>
                  <a:srgbClr val="262262"/>
                </a:solidFill>
                <a:latin typeface="Lexend Deca"/>
                <a:ea typeface="Lexend Deca"/>
                <a:cs typeface="Lexend Deca"/>
                <a:sym typeface="Lexend Deca"/>
              </a:rPr>
              <a:t>Successfully Assembled</a:t>
            </a:r>
          </a:p>
          <a:p>
            <a:pPr algn="l">
              <a:lnSpc>
                <a:spcPts val="2928"/>
              </a:lnSpc>
            </a:pPr>
            <a:r>
              <a:rPr lang="en-US" sz="2361" spc="-125">
                <a:solidFill>
                  <a:srgbClr val="262262"/>
                </a:solidFill>
                <a:latin typeface="Lexend Deca"/>
                <a:ea typeface="Lexend Deca"/>
                <a:cs typeface="Lexend Deca"/>
                <a:sym typeface="Lexend Deca"/>
              </a:rPr>
              <a:t>MICS-6814 (Gas Sensor)</a:t>
            </a:r>
          </a:p>
          <a:p>
            <a:pPr algn="l">
              <a:lnSpc>
                <a:spcPts val="2928"/>
              </a:lnSpc>
            </a:pPr>
            <a:r>
              <a:rPr lang="en-US" sz="2361" spc="-125">
                <a:solidFill>
                  <a:srgbClr val="262262"/>
                </a:solidFill>
                <a:latin typeface="Lexend Deca"/>
                <a:ea typeface="Lexend Deca"/>
                <a:cs typeface="Lexend Deca"/>
                <a:sym typeface="Lexend Deca"/>
              </a:rPr>
              <a:t>,BMP180 (Pressure and Temperature Sensor) and PM2.5 Sensor</a:t>
            </a:r>
          </a:p>
          <a:p>
            <a:pPr algn="l">
              <a:lnSpc>
                <a:spcPts val="2928"/>
              </a:lnSpc>
            </a:pPr>
            <a:r>
              <a:rPr lang="en-US" sz="2361" spc="-125">
                <a:solidFill>
                  <a:srgbClr val="262262"/>
                </a:solidFill>
                <a:latin typeface="Lexend Deca"/>
                <a:ea typeface="Lexend Deca"/>
                <a:cs typeface="Lexend Deca"/>
                <a:sym typeface="Lexend Deca"/>
              </a:rPr>
              <a:t> </a:t>
            </a:r>
          </a:p>
          <a:p>
            <a:pPr algn="l">
              <a:lnSpc>
                <a:spcPts val="2928"/>
              </a:lnSpc>
            </a:pPr>
          </a:p>
        </p:txBody>
      </p:sp>
      <p:sp>
        <p:nvSpPr>
          <p:cNvPr name="TextBox 25" id="25"/>
          <p:cNvSpPr txBox="true"/>
          <p:nvPr/>
        </p:nvSpPr>
        <p:spPr>
          <a:xfrm rot="0">
            <a:off x="5143777" y="5811670"/>
            <a:ext cx="3400148" cy="1492954"/>
          </a:xfrm>
          <a:prstGeom prst="rect">
            <a:avLst/>
          </a:prstGeom>
        </p:spPr>
        <p:txBody>
          <a:bodyPr anchor="t" rtlCol="false" tIns="0" lIns="0" bIns="0" rIns="0">
            <a:spAutoFit/>
          </a:bodyPr>
          <a:lstStyle/>
          <a:p>
            <a:pPr algn="l">
              <a:lnSpc>
                <a:spcPts val="2928"/>
              </a:lnSpc>
            </a:pPr>
            <a:r>
              <a:rPr lang="en-US" sz="2361" spc="-125">
                <a:solidFill>
                  <a:srgbClr val="262262"/>
                </a:solidFill>
                <a:latin typeface="Lexend Deca"/>
                <a:ea typeface="Lexend Deca"/>
                <a:cs typeface="Lexend Deca"/>
                <a:sym typeface="Lexend Deca"/>
              </a:rPr>
              <a:t>Confirmed hardware connectivity and communication with micro-controller</a:t>
            </a:r>
          </a:p>
        </p:txBody>
      </p:sp>
      <p:sp>
        <p:nvSpPr>
          <p:cNvPr name="TextBox 26" id="26"/>
          <p:cNvSpPr txBox="true"/>
          <p:nvPr/>
        </p:nvSpPr>
        <p:spPr>
          <a:xfrm rot="0">
            <a:off x="13718383" y="5811670"/>
            <a:ext cx="3534201" cy="2235904"/>
          </a:xfrm>
          <a:prstGeom prst="rect">
            <a:avLst/>
          </a:prstGeom>
        </p:spPr>
        <p:txBody>
          <a:bodyPr anchor="t" rtlCol="false" tIns="0" lIns="0" bIns="0" rIns="0">
            <a:spAutoFit/>
          </a:bodyPr>
          <a:lstStyle/>
          <a:p>
            <a:pPr algn="l">
              <a:lnSpc>
                <a:spcPts val="2928"/>
              </a:lnSpc>
            </a:pPr>
            <a:r>
              <a:rPr lang="en-US" sz="2361" spc="-125">
                <a:solidFill>
                  <a:srgbClr val="262262"/>
                </a:solidFill>
                <a:latin typeface="Lexend Deca"/>
                <a:ea typeface="Lexend Deca"/>
                <a:cs typeface="Lexend Deca"/>
                <a:sym typeface="Lexend Deca"/>
              </a:rPr>
              <a:t>Integrate Map-based visualization for localized monitoring which will display data of all parameters and some graphs associated with it.</a:t>
            </a:r>
          </a:p>
        </p:txBody>
      </p:sp>
      <p:sp>
        <p:nvSpPr>
          <p:cNvPr name="TextBox 27" id="27"/>
          <p:cNvSpPr txBox="true"/>
          <p:nvPr/>
        </p:nvSpPr>
        <p:spPr>
          <a:xfrm rot="0">
            <a:off x="9721859" y="5811670"/>
            <a:ext cx="3534201" cy="1864429"/>
          </a:xfrm>
          <a:prstGeom prst="rect">
            <a:avLst/>
          </a:prstGeom>
        </p:spPr>
        <p:txBody>
          <a:bodyPr anchor="t" rtlCol="false" tIns="0" lIns="0" bIns="0" rIns="0">
            <a:spAutoFit/>
          </a:bodyPr>
          <a:lstStyle/>
          <a:p>
            <a:pPr algn="l">
              <a:lnSpc>
                <a:spcPts val="2928"/>
              </a:lnSpc>
            </a:pPr>
            <a:r>
              <a:rPr lang="en-US" sz="2361" spc="-125">
                <a:solidFill>
                  <a:srgbClr val="262262"/>
                </a:solidFill>
                <a:latin typeface="Lexend Deca"/>
                <a:ea typeface="Lexend Deca"/>
                <a:cs typeface="Lexend Deca"/>
                <a:sym typeface="Lexend Deca"/>
              </a:rPr>
              <a:t>Designed a user-friendly UI with an interactive dashboard for real-time air-quality parameters tracking.</a:t>
            </a:r>
          </a:p>
        </p:txBody>
      </p:sp>
      <p:sp>
        <p:nvSpPr>
          <p:cNvPr name="TextBox 28" id="28"/>
          <p:cNvSpPr txBox="true"/>
          <p:nvPr/>
        </p:nvSpPr>
        <p:spPr>
          <a:xfrm rot="0">
            <a:off x="609978" y="4565712"/>
            <a:ext cx="3664491" cy="442664"/>
          </a:xfrm>
          <a:prstGeom prst="rect">
            <a:avLst/>
          </a:prstGeom>
        </p:spPr>
        <p:txBody>
          <a:bodyPr anchor="t" rtlCol="false" tIns="0" lIns="0" bIns="0" rIns="0">
            <a:spAutoFit/>
          </a:bodyPr>
          <a:lstStyle/>
          <a:p>
            <a:pPr algn="l">
              <a:lnSpc>
                <a:spcPts val="3548"/>
              </a:lnSpc>
            </a:pPr>
            <a:r>
              <a:rPr lang="en-US" sz="2861" spc="-151">
                <a:solidFill>
                  <a:srgbClr val="262262"/>
                </a:solidFill>
                <a:latin typeface="Lexend Deca"/>
                <a:ea typeface="Lexend Deca"/>
                <a:cs typeface="Lexend Deca"/>
                <a:sym typeface="Lexend Deca"/>
              </a:rPr>
              <a:t>Basic Sensor Assembly</a:t>
            </a:r>
          </a:p>
        </p:txBody>
      </p:sp>
      <p:sp>
        <p:nvSpPr>
          <p:cNvPr name="TextBox 29" id="29"/>
          <p:cNvSpPr txBox="true"/>
          <p:nvPr/>
        </p:nvSpPr>
        <p:spPr>
          <a:xfrm rot="0">
            <a:off x="9643725" y="4565712"/>
            <a:ext cx="3664491" cy="442664"/>
          </a:xfrm>
          <a:prstGeom prst="rect">
            <a:avLst/>
          </a:prstGeom>
        </p:spPr>
        <p:txBody>
          <a:bodyPr anchor="t" rtlCol="false" tIns="0" lIns="0" bIns="0" rIns="0">
            <a:spAutoFit/>
          </a:bodyPr>
          <a:lstStyle/>
          <a:p>
            <a:pPr algn="l">
              <a:lnSpc>
                <a:spcPts val="3548"/>
              </a:lnSpc>
            </a:pPr>
            <a:r>
              <a:rPr lang="en-US" sz="2861" spc="-151">
                <a:solidFill>
                  <a:srgbClr val="262262"/>
                </a:solidFill>
                <a:latin typeface="Lexend Deca"/>
                <a:ea typeface="Lexend Deca"/>
                <a:cs typeface="Lexend Deca"/>
                <a:sym typeface="Lexend Deca"/>
              </a:rPr>
              <a:t>App Development</a:t>
            </a:r>
          </a:p>
        </p:txBody>
      </p:sp>
      <p:sp>
        <p:nvSpPr>
          <p:cNvPr name="TextBox 30" id="30"/>
          <p:cNvSpPr txBox="true"/>
          <p:nvPr/>
        </p:nvSpPr>
        <p:spPr>
          <a:xfrm rot="0">
            <a:off x="13718383" y="4558444"/>
            <a:ext cx="3664491" cy="442664"/>
          </a:xfrm>
          <a:prstGeom prst="rect">
            <a:avLst/>
          </a:prstGeom>
        </p:spPr>
        <p:txBody>
          <a:bodyPr anchor="t" rtlCol="false" tIns="0" lIns="0" bIns="0" rIns="0">
            <a:spAutoFit/>
          </a:bodyPr>
          <a:lstStyle/>
          <a:p>
            <a:pPr algn="l">
              <a:lnSpc>
                <a:spcPts val="3548"/>
              </a:lnSpc>
            </a:pPr>
            <a:r>
              <a:rPr lang="en-US" sz="2861" spc="-151">
                <a:solidFill>
                  <a:srgbClr val="262262"/>
                </a:solidFill>
                <a:latin typeface="Lexend Deca"/>
                <a:ea typeface="Lexend Deca"/>
                <a:cs typeface="Lexend Deca"/>
                <a:sym typeface="Lexend Deca"/>
              </a:rPr>
              <a:t>Data-Visualisation</a:t>
            </a:r>
          </a:p>
        </p:txBody>
      </p:sp>
      <p:sp>
        <p:nvSpPr>
          <p:cNvPr name="TextBox 31" id="31"/>
          <p:cNvSpPr txBox="true"/>
          <p:nvPr/>
        </p:nvSpPr>
        <p:spPr>
          <a:xfrm rot="0">
            <a:off x="5111416" y="4471833"/>
            <a:ext cx="3664491" cy="890339"/>
          </a:xfrm>
          <a:prstGeom prst="rect">
            <a:avLst/>
          </a:prstGeom>
        </p:spPr>
        <p:txBody>
          <a:bodyPr anchor="t" rtlCol="false" tIns="0" lIns="0" bIns="0" rIns="0">
            <a:spAutoFit/>
          </a:bodyPr>
          <a:lstStyle/>
          <a:p>
            <a:pPr algn="l">
              <a:lnSpc>
                <a:spcPts val="3548"/>
              </a:lnSpc>
            </a:pPr>
            <a:r>
              <a:rPr lang="en-US" sz="2861" spc="-151">
                <a:solidFill>
                  <a:srgbClr val="262262"/>
                </a:solidFill>
                <a:latin typeface="Lexend Deca"/>
                <a:ea typeface="Lexend Deca"/>
                <a:cs typeface="Lexend Deca"/>
                <a:sym typeface="Lexend Deca"/>
              </a:rPr>
              <a:t>Testing Analog-Digital conversion</a:t>
            </a:r>
          </a:p>
        </p:txBody>
      </p:sp>
      <p:grpSp>
        <p:nvGrpSpPr>
          <p:cNvPr name="Group 32" id="32"/>
          <p:cNvGrpSpPr/>
          <p:nvPr/>
        </p:nvGrpSpPr>
        <p:grpSpPr>
          <a:xfrm rot="-2700000">
            <a:off x="4817215" y="5945525"/>
            <a:ext cx="149208" cy="149208"/>
            <a:chOff x="0" y="0"/>
            <a:chExt cx="39298" cy="39298"/>
          </a:xfrm>
        </p:grpSpPr>
        <p:sp>
          <p:nvSpPr>
            <p:cNvPr name="Freeform 33" id="33"/>
            <p:cNvSpPr/>
            <p:nvPr/>
          </p:nvSpPr>
          <p:spPr>
            <a:xfrm flipH="false" flipV="false" rot="0">
              <a:off x="0" y="0"/>
              <a:ext cx="39298" cy="39298"/>
            </a:xfrm>
            <a:custGeom>
              <a:avLst/>
              <a:gdLst/>
              <a:ahLst/>
              <a:cxnLst/>
              <a:rect r="r" b="b" t="t" l="l"/>
              <a:pathLst>
                <a:path h="39298" w="39298">
                  <a:moveTo>
                    <a:pt x="0" y="0"/>
                  </a:moveTo>
                  <a:lnTo>
                    <a:pt x="39298" y="0"/>
                  </a:lnTo>
                  <a:lnTo>
                    <a:pt x="39298" y="39298"/>
                  </a:lnTo>
                  <a:lnTo>
                    <a:pt x="0" y="39298"/>
                  </a:lnTo>
                  <a:close/>
                </a:path>
              </a:pathLst>
            </a:custGeom>
            <a:solidFill>
              <a:srgbClr val="00AEEF"/>
            </a:solidFill>
          </p:spPr>
        </p:sp>
        <p:sp>
          <p:nvSpPr>
            <p:cNvPr name="TextBox 34" id="34"/>
            <p:cNvSpPr txBox="true"/>
            <p:nvPr/>
          </p:nvSpPr>
          <p:spPr>
            <a:xfrm>
              <a:off x="0" y="28575"/>
              <a:ext cx="39298" cy="10723"/>
            </a:xfrm>
            <a:prstGeom prst="rect">
              <a:avLst/>
            </a:prstGeom>
          </p:spPr>
          <p:txBody>
            <a:bodyPr anchor="ctr" rtlCol="false" tIns="50800" lIns="50800" bIns="50800" rIns="50800"/>
            <a:lstStyle/>
            <a:p>
              <a:pPr algn="ctr">
                <a:lnSpc>
                  <a:spcPts val="1935"/>
                </a:lnSpc>
              </a:pPr>
            </a:p>
          </p:txBody>
        </p:sp>
      </p:grpSp>
      <p:grpSp>
        <p:nvGrpSpPr>
          <p:cNvPr name="Group 35" id="35"/>
          <p:cNvGrpSpPr/>
          <p:nvPr/>
        </p:nvGrpSpPr>
        <p:grpSpPr>
          <a:xfrm rot="-2700000">
            <a:off x="9398410" y="5945525"/>
            <a:ext cx="149208" cy="149208"/>
            <a:chOff x="0" y="0"/>
            <a:chExt cx="39298" cy="39298"/>
          </a:xfrm>
        </p:grpSpPr>
        <p:sp>
          <p:nvSpPr>
            <p:cNvPr name="Freeform 36" id="36"/>
            <p:cNvSpPr/>
            <p:nvPr/>
          </p:nvSpPr>
          <p:spPr>
            <a:xfrm flipH="false" flipV="false" rot="0">
              <a:off x="0" y="0"/>
              <a:ext cx="39298" cy="39298"/>
            </a:xfrm>
            <a:custGeom>
              <a:avLst/>
              <a:gdLst/>
              <a:ahLst/>
              <a:cxnLst/>
              <a:rect r="r" b="b" t="t" l="l"/>
              <a:pathLst>
                <a:path h="39298" w="39298">
                  <a:moveTo>
                    <a:pt x="0" y="0"/>
                  </a:moveTo>
                  <a:lnTo>
                    <a:pt x="39298" y="0"/>
                  </a:lnTo>
                  <a:lnTo>
                    <a:pt x="39298" y="39298"/>
                  </a:lnTo>
                  <a:lnTo>
                    <a:pt x="0" y="39298"/>
                  </a:lnTo>
                  <a:close/>
                </a:path>
              </a:pathLst>
            </a:custGeom>
            <a:solidFill>
              <a:srgbClr val="00AEEF"/>
            </a:solidFill>
          </p:spPr>
        </p:sp>
        <p:sp>
          <p:nvSpPr>
            <p:cNvPr name="TextBox 37" id="37"/>
            <p:cNvSpPr txBox="true"/>
            <p:nvPr/>
          </p:nvSpPr>
          <p:spPr>
            <a:xfrm>
              <a:off x="0" y="28575"/>
              <a:ext cx="39298" cy="10723"/>
            </a:xfrm>
            <a:prstGeom prst="rect">
              <a:avLst/>
            </a:prstGeom>
          </p:spPr>
          <p:txBody>
            <a:bodyPr anchor="ctr" rtlCol="false" tIns="50800" lIns="50800" bIns="50800" rIns="50800"/>
            <a:lstStyle/>
            <a:p>
              <a:pPr algn="ctr">
                <a:lnSpc>
                  <a:spcPts val="1935"/>
                </a:lnSpc>
              </a:pPr>
            </a:p>
          </p:txBody>
        </p:sp>
      </p:grpSp>
      <p:grpSp>
        <p:nvGrpSpPr>
          <p:cNvPr name="Group 38" id="38"/>
          <p:cNvGrpSpPr/>
          <p:nvPr/>
        </p:nvGrpSpPr>
        <p:grpSpPr>
          <a:xfrm rot="-2700000">
            <a:off x="13401262" y="5945525"/>
            <a:ext cx="149208" cy="149208"/>
            <a:chOff x="0" y="0"/>
            <a:chExt cx="39298" cy="39298"/>
          </a:xfrm>
        </p:grpSpPr>
        <p:sp>
          <p:nvSpPr>
            <p:cNvPr name="Freeform 39" id="39"/>
            <p:cNvSpPr/>
            <p:nvPr/>
          </p:nvSpPr>
          <p:spPr>
            <a:xfrm flipH="false" flipV="false" rot="0">
              <a:off x="0" y="0"/>
              <a:ext cx="39298" cy="39298"/>
            </a:xfrm>
            <a:custGeom>
              <a:avLst/>
              <a:gdLst/>
              <a:ahLst/>
              <a:cxnLst/>
              <a:rect r="r" b="b" t="t" l="l"/>
              <a:pathLst>
                <a:path h="39298" w="39298">
                  <a:moveTo>
                    <a:pt x="0" y="0"/>
                  </a:moveTo>
                  <a:lnTo>
                    <a:pt x="39298" y="0"/>
                  </a:lnTo>
                  <a:lnTo>
                    <a:pt x="39298" y="39298"/>
                  </a:lnTo>
                  <a:lnTo>
                    <a:pt x="0" y="39298"/>
                  </a:lnTo>
                  <a:close/>
                </a:path>
              </a:pathLst>
            </a:custGeom>
            <a:solidFill>
              <a:srgbClr val="00AEEF"/>
            </a:solidFill>
          </p:spPr>
        </p:sp>
        <p:sp>
          <p:nvSpPr>
            <p:cNvPr name="TextBox 40" id="40"/>
            <p:cNvSpPr txBox="true"/>
            <p:nvPr/>
          </p:nvSpPr>
          <p:spPr>
            <a:xfrm>
              <a:off x="0" y="28575"/>
              <a:ext cx="39298" cy="10723"/>
            </a:xfrm>
            <a:prstGeom prst="rect">
              <a:avLst/>
            </a:prstGeom>
          </p:spPr>
          <p:txBody>
            <a:bodyPr anchor="ctr" rtlCol="false" tIns="50800" lIns="50800" bIns="50800" rIns="50800"/>
            <a:lstStyle/>
            <a:p>
              <a:pPr algn="ctr">
                <a:lnSpc>
                  <a:spcPts val="1935"/>
                </a:lnSpc>
              </a:pPr>
            </a:p>
          </p:txBody>
        </p:sp>
      </p:grpSp>
      <p:sp>
        <p:nvSpPr>
          <p:cNvPr name="Freeform 41" id="41"/>
          <p:cNvSpPr/>
          <p:nvPr/>
        </p:nvSpPr>
        <p:spPr>
          <a:xfrm flipH="false" flipV="false" rot="-10800000">
            <a:off x="15916072" y="0"/>
            <a:ext cx="2371928" cy="2371928"/>
          </a:xfrm>
          <a:custGeom>
            <a:avLst/>
            <a:gdLst/>
            <a:ahLst/>
            <a:cxnLst/>
            <a:rect r="r" b="b" t="t" l="l"/>
            <a:pathLst>
              <a:path h="2371928" w="2371928">
                <a:moveTo>
                  <a:pt x="0" y="0"/>
                </a:moveTo>
                <a:lnTo>
                  <a:pt x="2371928" y="0"/>
                </a:lnTo>
                <a:lnTo>
                  <a:pt x="2371928" y="2371928"/>
                </a:lnTo>
                <a:lnTo>
                  <a:pt x="0" y="23719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2" id="42"/>
          <p:cNvSpPr/>
          <p:nvPr/>
        </p:nvSpPr>
        <p:spPr>
          <a:xfrm flipH="false" flipV="false" rot="0">
            <a:off x="-312339" y="6567672"/>
            <a:ext cx="3664308" cy="4665207"/>
          </a:xfrm>
          <a:custGeom>
            <a:avLst/>
            <a:gdLst/>
            <a:ahLst/>
            <a:cxnLst/>
            <a:rect r="r" b="b" t="t" l="l"/>
            <a:pathLst>
              <a:path h="4665207" w="3664308">
                <a:moveTo>
                  <a:pt x="0" y="0"/>
                </a:moveTo>
                <a:lnTo>
                  <a:pt x="3664308" y="0"/>
                </a:lnTo>
                <a:lnTo>
                  <a:pt x="3664308" y="4665208"/>
                </a:lnTo>
                <a:lnTo>
                  <a:pt x="0" y="46652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3" id="43"/>
          <p:cNvSpPr/>
          <p:nvPr/>
        </p:nvSpPr>
        <p:spPr>
          <a:xfrm flipH="false" flipV="false" rot="0">
            <a:off x="10446533" y="9164542"/>
            <a:ext cx="929135" cy="187516"/>
          </a:xfrm>
          <a:custGeom>
            <a:avLst/>
            <a:gdLst/>
            <a:ahLst/>
            <a:cxnLst/>
            <a:rect r="r" b="b" t="t" l="l"/>
            <a:pathLst>
              <a:path h="187516" w="929135">
                <a:moveTo>
                  <a:pt x="0" y="0"/>
                </a:moveTo>
                <a:lnTo>
                  <a:pt x="929135" y="0"/>
                </a:lnTo>
                <a:lnTo>
                  <a:pt x="929135" y="187516"/>
                </a:lnTo>
                <a:lnTo>
                  <a:pt x="0" y="187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cover dir="ld"/>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368563" y="3837388"/>
            <a:ext cx="19244709" cy="0"/>
          </a:xfrm>
          <a:prstGeom prst="line">
            <a:avLst/>
          </a:prstGeom>
          <a:ln cap="flat" w="9525">
            <a:solidFill>
              <a:srgbClr val="262262"/>
            </a:solidFill>
            <a:prstDash val="solid"/>
            <a:headEnd type="none" len="sm" w="sm"/>
            <a:tailEnd type="none" len="sm" w="sm"/>
          </a:ln>
        </p:spPr>
      </p:sp>
      <p:grpSp>
        <p:nvGrpSpPr>
          <p:cNvPr name="Group 3" id="3"/>
          <p:cNvGrpSpPr/>
          <p:nvPr/>
        </p:nvGrpSpPr>
        <p:grpSpPr>
          <a:xfrm rot="0">
            <a:off x="6024747" y="3592286"/>
            <a:ext cx="1155719" cy="490204"/>
            <a:chOff x="0" y="0"/>
            <a:chExt cx="304387" cy="129107"/>
          </a:xfrm>
        </p:grpSpPr>
        <p:sp>
          <p:nvSpPr>
            <p:cNvPr name="Freeform 4" id="4"/>
            <p:cNvSpPr/>
            <p:nvPr/>
          </p:nvSpPr>
          <p:spPr>
            <a:xfrm flipH="false" flipV="false" rot="0">
              <a:off x="0" y="0"/>
              <a:ext cx="304387" cy="129107"/>
            </a:xfrm>
            <a:custGeom>
              <a:avLst/>
              <a:gdLst/>
              <a:ahLst/>
              <a:cxnLst/>
              <a:rect r="r" b="b" t="t" l="l"/>
              <a:pathLst>
                <a:path h="129107" w="304387">
                  <a:moveTo>
                    <a:pt x="0" y="0"/>
                  </a:moveTo>
                  <a:lnTo>
                    <a:pt x="304387" y="0"/>
                  </a:lnTo>
                  <a:lnTo>
                    <a:pt x="304387" y="129107"/>
                  </a:lnTo>
                  <a:lnTo>
                    <a:pt x="0" y="129107"/>
                  </a:lnTo>
                  <a:close/>
                </a:path>
              </a:pathLst>
            </a:custGeom>
            <a:solidFill>
              <a:srgbClr val="262262"/>
            </a:solidFill>
          </p:spPr>
        </p:sp>
        <p:sp>
          <p:nvSpPr>
            <p:cNvPr name="TextBox 5" id="5"/>
            <p:cNvSpPr txBox="true"/>
            <p:nvPr/>
          </p:nvSpPr>
          <p:spPr>
            <a:xfrm>
              <a:off x="0" y="28575"/>
              <a:ext cx="304387" cy="100532"/>
            </a:xfrm>
            <a:prstGeom prst="rect">
              <a:avLst/>
            </a:prstGeom>
          </p:spPr>
          <p:txBody>
            <a:bodyPr anchor="ctr" rtlCol="false" tIns="50800" lIns="50800" bIns="50800" rIns="50800"/>
            <a:lstStyle/>
            <a:p>
              <a:pPr algn="ctr">
                <a:lnSpc>
                  <a:spcPts val="1935"/>
                </a:lnSpc>
              </a:pPr>
              <a:r>
                <a:rPr lang="en-US" sz="1861" spc="-98">
                  <a:solidFill>
                    <a:srgbClr val="FFFFFF"/>
                  </a:solidFill>
                  <a:latin typeface="Lexend Deca"/>
                  <a:ea typeface="Lexend Deca"/>
                  <a:cs typeface="Lexend Deca"/>
                  <a:sym typeface="Lexend Deca"/>
                </a:rPr>
                <a:t>2</a:t>
              </a:r>
            </a:p>
          </p:txBody>
        </p:sp>
      </p:grpSp>
      <p:grpSp>
        <p:nvGrpSpPr>
          <p:cNvPr name="Group 6" id="6"/>
          <p:cNvGrpSpPr/>
          <p:nvPr/>
        </p:nvGrpSpPr>
        <p:grpSpPr>
          <a:xfrm rot="0">
            <a:off x="10333241" y="3592286"/>
            <a:ext cx="1155719" cy="490204"/>
            <a:chOff x="0" y="0"/>
            <a:chExt cx="304387" cy="129107"/>
          </a:xfrm>
        </p:grpSpPr>
        <p:sp>
          <p:nvSpPr>
            <p:cNvPr name="Freeform 7" id="7"/>
            <p:cNvSpPr/>
            <p:nvPr/>
          </p:nvSpPr>
          <p:spPr>
            <a:xfrm flipH="false" flipV="false" rot="0">
              <a:off x="0" y="0"/>
              <a:ext cx="304387" cy="129107"/>
            </a:xfrm>
            <a:custGeom>
              <a:avLst/>
              <a:gdLst/>
              <a:ahLst/>
              <a:cxnLst/>
              <a:rect r="r" b="b" t="t" l="l"/>
              <a:pathLst>
                <a:path h="129107" w="304387">
                  <a:moveTo>
                    <a:pt x="0" y="0"/>
                  </a:moveTo>
                  <a:lnTo>
                    <a:pt x="304387" y="0"/>
                  </a:lnTo>
                  <a:lnTo>
                    <a:pt x="304387" y="129107"/>
                  </a:lnTo>
                  <a:lnTo>
                    <a:pt x="0" y="129107"/>
                  </a:lnTo>
                  <a:close/>
                </a:path>
              </a:pathLst>
            </a:custGeom>
            <a:solidFill>
              <a:srgbClr val="262262"/>
            </a:solidFill>
          </p:spPr>
        </p:sp>
        <p:sp>
          <p:nvSpPr>
            <p:cNvPr name="TextBox 8" id="8"/>
            <p:cNvSpPr txBox="true"/>
            <p:nvPr/>
          </p:nvSpPr>
          <p:spPr>
            <a:xfrm>
              <a:off x="0" y="28575"/>
              <a:ext cx="304387" cy="100532"/>
            </a:xfrm>
            <a:prstGeom prst="rect">
              <a:avLst/>
            </a:prstGeom>
          </p:spPr>
          <p:txBody>
            <a:bodyPr anchor="ctr" rtlCol="false" tIns="50800" lIns="50800" bIns="50800" rIns="50800"/>
            <a:lstStyle/>
            <a:p>
              <a:pPr algn="ctr">
                <a:lnSpc>
                  <a:spcPts val="1935"/>
                </a:lnSpc>
              </a:pPr>
              <a:r>
                <a:rPr lang="en-US" sz="1861" spc="-98">
                  <a:solidFill>
                    <a:srgbClr val="FFFFFF"/>
                  </a:solidFill>
                  <a:latin typeface="Lexend Deca"/>
                  <a:ea typeface="Lexend Deca"/>
                  <a:cs typeface="Lexend Deca"/>
                  <a:sym typeface="Lexend Deca"/>
                </a:rPr>
                <a:t>3</a:t>
              </a:r>
            </a:p>
          </p:txBody>
        </p:sp>
      </p:grpSp>
      <p:grpSp>
        <p:nvGrpSpPr>
          <p:cNvPr name="Group 9" id="9"/>
          <p:cNvGrpSpPr/>
          <p:nvPr/>
        </p:nvGrpSpPr>
        <p:grpSpPr>
          <a:xfrm rot="0">
            <a:off x="14637236" y="3592286"/>
            <a:ext cx="1155719" cy="490204"/>
            <a:chOff x="0" y="0"/>
            <a:chExt cx="304387" cy="129107"/>
          </a:xfrm>
        </p:grpSpPr>
        <p:sp>
          <p:nvSpPr>
            <p:cNvPr name="Freeform 10" id="10"/>
            <p:cNvSpPr/>
            <p:nvPr/>
          </p:nvSpPr>
          <p:spPr>
            <a:xfrm flipH="false" flipV="false" rot="0">
              <a:off x="0" y="0"/>
              <a:ext cx="304387" cy="129107"/>
            </a:xfrm>
            <a:custGeom>
              <a:avLst/>
              <a:gdLst/>
              <a:ahLst/>
              <a:cxnLst/>
              <a:rect r="r" b="b" t="t" l="l"/>
              <a:pathLst>
                <a:path h="129107" w="304387">
                  <a:moveTo>
                    <a:pt x="0" y="0"/>
                  </a:moveTo>
                  <a:lnTo>
                    <a:pt x="304387" y="0"/>
                  </a:lnTo>
                  <a:lnTo>
                    <a:pt x="304387" y="129107"/>
                  </a:lnTo>
                  <a:lnTo>
                    <a:pt x="0" y="129107"/>
                  </a:lnTo>
                  <a:close/>
                </a:path>
              </a:pathLst>
            </a:custGeom>
            <a:solidFill>
              <a:srgbClr val="262262"/>
            </a:solidFill>
          </p:spPr>
        </p:sp>
        <p:sp>
          <p:nvSpPr>
            <p:cNvPr name="TextBox 11" id="11"/>
            <p:cNvSpPr txBox="true"/>
            <p:nvPr/>
          </p:nvSpPr>
          <p:spPr>
            <a:xfrm>
              <a:off x="0" y="28575"/>
              <a:ext cx="304387" cy="100532"/>
            </a:xfrm>
            <a:prstGeom prst="rect">
              <a:avLst/>
            </a:prstGeom>
          </p:spPr>
          <p:txBody>
            <a:bodyPr anchor="ctr" rtlCol="false" tIns="50800" lIns="50800" bIns="50800" rIns="50800"/>
            <a:lstStyle/>
            <a:p>
              <a:pPr algn="ctr">
                <a:lnSpc>
                  <a:spcPts val="1935"/>
                </a:lnSpc>
              </a:pPr>
              <a:r>
                <a:rPr lang="en-US" sz="1861" spc="-98">
                  <a:solidFill>
                    <a:srgbClr val="FFFFFF"/>
                  </a:solidFill>
                  <a:latin typeface="Lexend Deca"/>
                  <a:ea typeface="Lexend Deca"/>
                  <a:cs typeface="Lexend Deca"/>
                  <a:sym typeface="Lexend Deca"/>
                </a:rPr>
                <a:t>4</a:t>
              </a:r>
            </a:p>
          </p:txBody>
        </p:sp>
      </p:grpSp>
      <p:sp>
        <p:nvSpPr>
          <p:cNvPr name="Freeform 12" id="12"/>
          <p:cNvSpPr/>
          <p:nvPr/>
        </p:nvSpPr>
        <p:spPr>
          <a:xfrm flipH="false" flipV="false" rot="0">
            <a:off x="10911100" y="841184"/>
            <a:ext cx="929135" cy="187516"/>
          </a:xfrm>
          <a:custGeom>
            <a:avLst/>
            <a:gdLst/>
            <a:ahLst/>
            <a:cxnLst/>
            <a:rect r="r" b="b" t="t" l="l"/>
            <a:pathLst>
              <a:path h="187516" w="929135">
                <a:moveTo>
                  <a:pt x="0" y="0"/>
                </a:moveTo>
                <a:lnTo>
                  <a:pt x="929136" y="0"/>
                </a:lnTo>
                <a:lnTo>
                  <a:pt x="929136" y="187516"/>
                </a:lnTo>
                <a:lnTo>
                  <a:pt x="0" y="187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1519815" y="3592286"/>
            <a:ext cx="1155719" cy="490204"/>
            <a:chOff x="0" y="0"/>
            <a:chExt cx="304387" cy="129107"/>
          </a:xfrm>
        </p:grpSpPr>
        <p:sp>
          <p:nvSpPr>
            <p:cNvPr name="Freeform 14" id="14"/>
            <p:cNvSpPr/>
            <p:nvPr/>
          </p:nvSpPr>
          <p:spPr>
            <a:xfrm flipH="false" flipV="false" rot="0">
              <a:off x="0" y="0"/>
              <a:ext cx="304387" cy="129107"/>
            </a:xfrm>
            <a:custGeom>
              <a:avLst/>
              <a:gdLst/>
              <a:ahLst/>
              <a:cxnLst/>
              <a:rect r="r" b="b" t="t" l="l"/>
              <a:pathLst>
                <a:path h="129107" w="304387">
                  <a:moveTo>
                    <a:pt x="0" y="0"/>
                  </a:moveTo>
                  <a:lnTo>
                    <a:pt x="304387" y="0"/>
                  </a:lnTo>
                  <a:lnTo>
                    <a:pt x="304387" y="129107"/>
                  </a:lnTo>
                  <a:lnTo>
                    <a:pt x="0" y="129107"/>
                  </a:lnTo>
                  <a:close/>
                </a:path>
              </a:pathLst>
            </a:custGeom>
            <a:solidFill>
              <a:srgbClr val="262262"/>
            </a:solidFill>
          </p:spPr>
        </p:sp>
        <p:sp>
          <p:nvSpPr>
            <p:cNvPr name="TextBox 15" id="15"/>
            <p:cNvSpPr txBox="true"/>
            <p:nvPr/>
          </p:nvSpPr>
          <p:spPr>
            <a:xfrm>
              <a:off x="0" y="28575"/>
              <a:ext cx="304387" cy="100532"/>
            </a:xfrm>
            <a:prstGeom prst="rect">
              <a:avLst/>
            </a:prstGeom>
          </p:spPr>
          <p:txBody>
            <a:bodyPr anchor="ctr" rtlCol="false" tIns="50800" lIns="50800" bIns="50800" rIns="50800"/>
            <a:lstStyle/>
            <a:p>
              <a:pPr algn="ctr">
                <a:lnSpc>
                  <a:spcPts val="1935"/>
                </a:lnSpc>
              </a:pPr>
              <a:r>
                <a:rPr lang="en-US" sz="1861" spc="-98">
                  <a:solidFill>
                    <a:srgbClr val="FFFFFF"/>
                  </a:solidFill>
                  <a:latin typeface="Lexend Deca"/>
                  <a:ea typeface="Lexend Deca"/>
                  <a:cs typeface="Lexend Deca"/>
                  <a:sym typeface="Lexend Deca"/>
                </a:rPr>
                <a:t>1</a:t>
              </a:r>
            </a:p>
          </p:txBody>
        </p:sp>
      </p:grpSp>
      <p:grpSp>
        <p:nvGrpSpPr>
          <p:cNvPr name="Group 16" id="16"/>
          <p:cNvGrpSpPr/>
          <p:nvPr/>
        </p:nvGrpSpPr>
        <p:grpSpPr>
          <a:xfrm rot="-2700000">
            <a:off x="378845" y="5945525"/>
            <a:ext cx="149208" cy="149208"/>
            <a:chOff x="0" y="0"/>
            <a:chExt cx="39298" cy="39298"/>
          </a:xfrm>
        </p:grpSpPr>
        <p:sp>
          <p:nvSpPr>
            <p:cNvPr name="Freeform 17" id="17"/>
            <p:cNvSpPr/>
            <p:nvPr/>
          </p:nvSpPr>
          <p:spPr>
            <a:xfrm flipH="false" flipV="false" rot="0">
              <a:off x="0" y="0"/>
              <a:ext cx="39298" cy="39298"/>
            </a:xfrm>
            <a:custGeom>
              <a:avLst/>
              <a:gdLst/>
              <a:ahLst/>
              <a:cxnLst/>
              <a:rect r="r" b="b" t="t" l="l"/>
              <a:pathLst>
                <a:path h="39298" w="39298">
                  <a:moveTo>
                    <a:pt x="0" y="0"/>
                  </a:moveTo>
                  <a:lnTo>
                    <a:pt x="39298" y="0"/>
                  </a:lnTo>
                  <a:lnTo>
                    <a:pt x="39298" y="39298"/>
                  </a:lnTo>
                  <a:lnTo>
                    <a:pt x="0" y="39298"/>
                  </a:lnTo>
                  <a:close/>
                </a:path>
              </a:pathLst>
            </a:custGeom>
            <a:solidFill>
              <a:srgbClr val="00AEEF"/>
            </a:solidFill>
          </p:spPr>
        </p:sp>
        <p:sp>
          <p:nvSpPr>
            <p:cNvPr name="TextBox 18" id="18"/>
            <p:cNvSpPr txBox="true"/>
            <p:nvPr/>
          </p:nvSpPr>
          <p:spPr>
            <a:xfrm>
              <a:off x="0" y="28575"/>
              <a:ext cx="39298" cy="10723"/>
            </a:xfrm>
            <a:prstGeom prst="rect">
              <a:avLst/>
            </a:prstGeom>
          </p:spPr>
          <p:txBody>
            <a:bodyPr anchor="ctr" rtlCol="false" tIns="50800" lIns="50800" bIns="50800" rIns="50800"/>
            <a:lstStyle/>
            <a:p>
              <a:pPr algn="ctr">
                <a:lnSpc>
                  <a:spcPts val="1935"/>
                </a:lnSpc>
              </a:pPr>
            </a:p>
          </p:txBody>
        </p:sp>
      </p:grpSp>
      <p:sp>
        <p:nvSpPr>
          <p:cNvPr name="Freeform 19" id="19"/>
          <p:cNvSpPr/>
          <p:nvPr/>
        </p:nvSpPr>
        <p:spPr>
          <a:xfrm flipH="false" flipV="false" rot="0">
            <a:off x="188128" y="4567969"/>
            <a:ext cx="4281841" cy="1033580"/>
          </a:xfrm>
          <a:custGeom>
            <a:avLst/>
            <a:gdLst/>
            <a:ahLst/>
            <a:cxnLst/>
            <a:rect r="r" b="b" t="t" l="l"/>
            <a:pathLst>
              <a:path h="1033580" w="4281841">
                <a:moveTo>
                  <a:pt x="0" y="0"/>
                </a:moveTo>
                <a:lnTo>
                  <a:pt x="4281841" y="0"/>
                </a:lnTo>
                <a:lnTo>
                  <a:pt x="4281841" y="1033580"/>
                </a:lnTo>
                <a:lnTo>
                  <a:pt x="0" y="10335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7570348" y="4604152"/>
            <a:ext cx="1506416" cy="862039"/>
            <a:chOff x="0" y="0"/>
            <a:chExt cx="2008555" cy="1149385"/>
          </a:xfrm>
        </p:grpSpPr>
        <p:sp>
          <p:nvSpPr>
            <p:cNvPr name="Freeform 21" id="21"/>
            <p:cNvSpPr/>
            <p:nvPr/>
          </p:nvSpPr>
          <p:spPr>
            <a:xfrm flipH="false" flipV="false" rot="0">
              <a:off x="0" y="0"/>
              <a:ext cx="866327" cy="1142227"/>
            </a:xfrm>
            <a:custGeom>
              <a:avLst/>
              <a:gdLst/>
              <a:ahLst/>
              <a:cxnLst/>
              <a:rect r="r" b="b" t="t" l="l"/>
              <a:pathLst>
                <a:path h="1142227" w="866327">
                  <a:moveTo>
                    <a:pt x="0" y="0"/>
                  </a:moveTo>
                  <a:lnTo>
                    <a:pt x="866327" y="0"/>
                  </a:lnTo>
                  <a:lnTo>
                    <a:pt x="866327" y="1142227"/>
                  </a:lnTo>
                  <a:lnTo>
                    <a:pt x="0" y="11422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741572" y="440322"/>
              <a:ext cx="257919" cy="52053"/>
            </a:xfrm>
            <a:custGeom>
              <a:avLst/>
              <a:gdLst/>
              <a:ahLst/>
              <a:cxnLst/>
              <a:rect r="r" b="b" t="t" l="l"/>
              <a:pathLst>
                <a:path h="52053" w="257919">
                  <a:moveTo>
                    <a:pt x="0" y="0"/>
                  </a:moveTo>
                  <a:lnTo>
                    <a:pt x="257919" y="0"/>
                  </a:lnTo>
                  <a:lnTo>
                    <a:pt x="257919" y="52052"/>
                  </a:lnTo>
                  <a:lnTo>
                    <a:pt x="0" y="520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0">
              <a:off x="1330694" y="440322"/>
              <a:ext cx="257919" cy="52053"/>
            </a:xfrm>
            <a:custGeom>
              <a:avLst/>
              <a:gdLst/>
              <a:ahLst/>
              <a:cxnLst/>
              <a:rect r="r" b="b" t="t" l="l"/>
              <a:pathLst>
                <a:path h="52053" w="257919">
                  <a:moveTo>
                    <a:pt x="0" y="0"/>
                  </a:moveTo>
                  <a:lnTo>
                    <a:pt x="257918" y="0"/>
                  </a:lnTo>
                  <a:lnTo>
                    <a:pt x="257918" y="52052"/>
                  </a:lnTo>
                  <a:lnTo>
                    <a:pt x="0" y="520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4" id="24"/>
            <p:cNvSpPr txBox="true"/>
            <p:nvPr/>
          </p:nvSpPr>
          <p:spPr>
            <a:xfrm rot="0">
              <a:off x="870532" y="449847"/>
              <a:ext cx="674503" cy="58099"/>
            </a:xfrm>
            <a:prstGeom prst="rect">
              <a:avLst/>
            </a:prstGeom>
          </p:spPr>
          <p:txBody>
            <a:bodyPr anchor="t" rtlCol="false" tIns="0" lIns="0" bIns="0" rIns="0">
              <a:spAutoFit/>
            </a:bodyPr>
            <a:lstStyle/>
            <a:p>
              <a:pPr algn="ctr">
                <a:lnSpc>
                  <a:spcPts val="256"/>
                </a:lnSpc>
              </a:pPr>
              <a:r>
                <a:rPr lang="en-US" sz="333" spc="-17">
                  <a:solidFill>
                    <a:srgbClr val="262262"/>
                  </a:solidFill>
                  <a:latin typeface="Lexend Deca"/>
                  <a:ea typeface="Lexend Deca"/>
                  <a:cs typeface="Lexend Deca"/>
                  <a:sym typeface="Lexend Deca"/>
                </a:rPr>
                <a:t>-  Any Suggestions?</a:t>
              </a:r>
            </a:p>
          </p:txBody>
        </p:sp>
        <p:sp>
          <p:nvSpPr>
            <p:cNvPr name="TextBox 25" id="25"/>
            <p:cNvSpPr txBox="true"/>
            <p:nvPr/>
          </p:nvSpPr>
          <p:spPr>
            <a:xfrm rot="0">
              <a:off x="726242" y="409207"/>
              <a:ext cx="947752" cy="161907"/>
            </a:xfrm>
            <a:prstGeom prst="rect">
              <a:avLst/>
            </a:prstGeom>
          </p:spPr>
          <p:txBody>
            <a:bodyPr anchor="t" rtlCol="false" tIns="0" lIns="0" bIns="0" rIns="0">
              <a:spAutoFit/>
            </a:bodyPr>
            <a:lstStyle/>
            <a:p>
              <a:pPr algn="ctr">
                <a:lnSpc>
                  <a:spcPts val="794"/>
                </a:lnSpc>
              </a:pPr>
              <a:r>
                <a:rPr lang="en-US" sz="1032" spc="-54">
                  <a:solidFill>
                    <a:srgbClr val="262262"/>
                  </a:solidFill>
                  <a:latin typeface="Lexend Deca"/>
                  <a:ea typeface="Lexend Deca"/>
                  <a:cs typeface="Lexend Deca"/>
                  <a:sym typeface="Lexend Deca"/>
                </a:rPr>
                <a:t>Thank you</a:t>
              </a:r>
            </a:p>
          </p:txBody>
        </p:sp>
        <p:sp>
          <p:nvSpPr>
            <p:cNvPr name="Freeform 26" id="26"/>
            <p:cNvSpPr/>
            <p:nvPr/>
          </p:nvSpPr>
          <p:spPr>
            <a:xfrm flipH="false" flipV="false" rot="5400000">
              <a:off x="137950" y="-130792"/>
              <a:ext cx="866327" cy="1142227"/>
            </a:xfrm>
            <a:custGeom>
              <a:avLst/>
              <a:gdLst/>
              <a:ahLst/>
              <a:cxnLst/>
              <a:rect r="r" b="b" t="t" l="l"/>
              <a:pathLst>
                <a:path h="1142227" w="866327">
                  <a:moveTo>
                    <a:pt x="0" y="0"/>
                  </a:moveTo>
                  <a:lnTo>
                    <a:pt x="866327" y="0"/>
                  </a:lnTo>
                  <a:lnTo>
                    <a:pt x="866327" y="1142227"/>
                  </a:lnTo>
                  <a:lnTo>
                    <a:pt x="0" y="11422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10800000">
              <a:off x="1142227" y="7158"/>
              <a:ext cx="866327" cy="1142227"/>
            </a:xfrm>
            <a:custGeom>
              <a:avLst/>
              <a:gdLst/>
              <a:ahLst/>
              <a:cxnLst/>
              <a:rect r="r" b="b" t="t" l="l"/>
              <a:pathLst>
                <a:path h="1142227" w="866327">
                  <a:moveTo>
                    <a:pt x="0" y="0"/>
                  </a:moveTo>
                  <a:lnTo>
                    <a:pt x="866328" y="0"/>
                  </a:lnTo>
                  <a:lnTo>
                    <a:pt x="866328" y="1142227"/>
                  </a:lnTo>
                  <a:lnTo>
                    <a:pt x="0" y="11422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5400000">
              <a:off x="1004277" y="145108"/>
              <a:ext cx="866327" cy="1142227"/>
            </a:xfrm>
            <a:custGeom>
              <a:avLst/>
              <a:gdLst/>
              <a:ahLst/>
              <a:cxnLst/>
              <a:rect r="r" b="b" t="t" l="l"/>
              <a:pathLst>
                <a:path h="1142227" w="866327">
                  <a:moveTo>
                    <a:pt x="0" y="0"/>
                  </a:moveTo>
                  <a:lnTo>
                    <a:pt x="866327" y="0"/>
                  </a:lnTo>
                  <a:lnTo>
                    <a:pt x="866327" y="1142228"/>
                  </a:lnTo>
                  <a:lnTo>
                    <a:pt x="0" y="11422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9" id="29"/>
            <p:cNvGrpSpPr/>
            <p:nvPr/>
          </p:nvGrpSpPr>
          <p:grpSpPr>
            <a:xfrm rot="-2700000">
              <a:off x="1119958" y="607492"/>
              <a:ext cx="175651" cy="175651"/>
              <a:chOff x="0" y="0"/>
              <a:chExt cx="166656" cy="166656"/>
            </a:xfrm>
          </p:grpSpPr>
          <p:sp>
            <p:nvSpPr>
              <p:cNvPr name="Freeform 30" id="30"/>
              <p:cNvSpPr/>
              <p:nvPr/>
            </p:nvSpPr>
            <p:spPr>
              <a:xfrm flipH="false" flipV="false" rot="0">
                <a:off x="0" y="0"/>
                <a:ext cx="166656" cy="166656"/>
              </a:xfrm>
              <a:custGeom>
                <a:avLst/>
                <a:gdLst/>
                <a:ahLst/>
                <a:cxnLst/>
                <a:rect r="r" b="b" t="t" l="l"/>
                <a:pathLst>
                  <a:path h="166656" w="166656">
                    <a:moveTo>
                      <a:pt x="0" y="0"/>
                    </a:moveTo>
                    <a:lnTo>
                      <a:pt x="166656" y="0"/>
                    </a:lnTo>
                    <a:lnTo>
                      <a:pt x="166656" y="166656"/>
                    </a:lnTo>
                    <a:lnTo>
                      <a:pt x="0" y="166656"/>
                    </a:lnTo>
                    <a:close/>
                  </a:path>
                </a:pathLst>
              </a:custGeom>
              <a:solidFill>
                <a:srgbClr val="00AEEF"/>
              </a:solidFill>
            </p:spPr>
          </p:sp>
          <p:sp>
            <p:nvSpPr>
              <p:cNvPr name="TextBox 31" id="31"/>
              <p:cNvSpPr txBox="true"/>
              <p:nvPr/>
            </p:nvSpPr>
            <p:spPr>
              <a:xfrm>
                <a:off x="0" y="28575"/>
                <a:ext cx="166656" cy="138081"/>
              </a:xfrm>
              <a:prstGeom prst="rect">
                <a:avLst/>
              </a:prstGeom>
            </p:spPr>
            <p:txBody>
              <a:bodyPr anchor="ctr" rtlCol="false" tIns="50800" lIns="50800" bIns="50800" rIns="50800"/>
              <a:lstStyle/>
              <a:p>
                <a:pPr algn="ctr">
                  <a:lnSpc>
                    <a:spcPts val="1935"/>
                  </a:lnSpc>
                </a:pPr>
              </a:p>
            </p:txBody>
          </p:sp>
        </p:grpSp>
      </p:grpSp>
      <p:grpSp>
        <p:nvGrpSpPr>
          <p:cNvPr name="Group 32" id="32"/>
          <p:cNvGrpSpPr/>
          <p:nvPr/>
        </p:nvGrpSpPr>
        <p:grpSpPr>
          <a:xfrm rot="0">
            <a:off x="6939370" y="4635457"/>
            <a:ext cx="1261955" cy="731303"/>
            <a:chOff x="0" y="0"/>
            <a:chExt cx="1682607" cy="975071"/>
          </a:xfrm>
        </p:grpSpPr>
        <p:sp>
          <p:nvSpPr>
            <p:cNvPr name="Freeform 33" id="33"/>
            <p:cNvSpPr/>
            <p:nvPr/>
          </p:nvSpPr>
          <p:spPr>
            <a:xfrm flipH="false" flipV="false" rot="0">
              <a:off x="8080" y="11595"/>
              <a:ext cx="730752" cy="963476"/>
            </a:xfrm>
            <a:custGeom>
              <a:avLst/>
              <a:gdLst/>
              <a:ahLst/>
              <a:cxnLst/>
              <a:rect r="r" b="b" t="t" l="l"/>
              <a:pathLst>
                <a:path h="963476" w="730752">
                  <a:moveTo>
                    <a:pt x="0" y="0"/>
                  </a:moveTo>
                  <a:lnTo>
                    <a:pt x="730752" y="0"/>
                  </a:lnTo>
                  <a:lnTo>
                    <a:pt x="730752" y="963476"/>
                  </a:lnTo>
                  <a:lnTo>
                    <a:pt x="0" y="9634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4" id="34"/>
            <p:cNvSpPr txBox="true"/>
            <p:nvPr/>
          </p:nvSpPr>
          <p:spPr>
            <a:xfrm rot="0">
              <a:off x="738832" y="210254"/>
              <a:ext cx="449288" cy="80280"/>
            </a:xfrm>
            <a:prstGeom prst="rect">
              <a:avLst/>
            </a:prstGeom>
          </p:spPr>
          <p:txBody>
            <a:bodyPr anchor="t" rtlCol="false" tIns="0" lIns="0" bIns="0" rIns="0">
              <a:spAutoFit/>
            </a:bodyPr>
            <a:lstStyle/>
            <a:p>
              <a:pPr algn="ctr">
                <a:lnSpc>
                  <a:spcPts val="376"/>
                </a:lnSpc>
              </a:pPr>
              <a:r>
                <a:rPr lang="en-US" sz="489" spc="-25">
                  <a:solidFill>
                    <a:srgbClr val="262262"/>
                  </a:solidFill>
                  <a:latin typeface="Lexend Deca"/>
                  <a:ea typeface="Lexend Deca"/>
                  <a:cs typeface="Lexend Deca"/>
                  <a:sym typeface="Lexend Deca"/>
                </a:rPr>
                <a:t>Thank you</a:t>
              </a:r>
            </a:p>
          </p:txBody>
        </p:sp>
        <p:sp>
          <p:nvSpPr>
            <p:cNvPr name="Freeform 35" id="35"/>
            <p:cNvSpPr/>
            <p:nvPr/>
          </p:nvSpPr>
          <p:spPr>
            <a:xfrm flipH="false" flipV="false" rot="5400000">
              <a:off x="116362" y="-104767"/>
              <a:ext cx="730752" cy="963476"/>
            </a:xfrm>
            <a:custGeom>
              <a:avLst/>
              <a:gdLst/>
              <a:ahLst/>
              <a:cxnLst/>
              <a:rect r="r" b="b" t="t" l="l"/>
              <a:pathLst>
                <a:path h="963476" w="730752">
                  <a:moveTo>
                    <a:pt x="0" y="0"/>
                  </a:moveTo>
                  <a:lnTo>
                    <a:pt x="730752" y="0"/>
                  </a:lnTo>
                  <a:lnTo>
                    <a:pt x="730752" y="963476"/>
                  </a:lnTo>
                  <a:lnTo>
                    <a:pt x="0" y="9634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6" id="36"/>
            <p:cNvSpPr/>
            <p:nvPr/>
          </p:nvSpPr>
          <p:spPr>
            <a:xfrm flipH="false" flipV="false" rot="-10800000">
              <a:off x="951855" y="0"/>
              <a:ext cx="730752" cy="963476"/>
            </a:xfrm>
            <a:custGeom>
              <a:avLst/>
              <a:gdLst/>
              <a:ahLst/>
              <a:cxnLst/>
              <a:rect r="r" b="b" t="t" l="l"/>
              <a:pathLst>
                <a:path h="963476" w="730752">
                  <a:moveTo>
                    <a:pt x="0" y="0"/>
                  </a:moveTo>
                  <a:lnTo>
                    <a:pt x="730752" y="0"/>
                  </a:lnTo>
                  <a:lnTo>
                    <a:pt x="730752" y="963476"/>
                  </a:lnTo>
                  <a:lnTo>
                    <a:pt x="0" y="9634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5400000">
              <a:off x="822744" y="116362"/>
              <a:ext cx="730752" cy="963476"/>
            </a:xfrm>
            <a:custGeom>
              <a:avLst/>
              <a:gdLst/>
              <a:ahLst/>
              <a:cxnLst/>
              <a:rect r="r" b="b" t="t" l="l"/>
              <a:pathLst>
                <a:path h="963476" w="730752">
                  <a:moveTo>
                    <a:pt x="0" y="0"/>
                  </a:moveTo>
                  <a:lnTo>
                    <a:pt x="730752" y="0"/>
                  </a:lnTo>
                  <a:lnTo>
                    <a:pt x="730752" y="963476"/>
                  </a:lnTo>
                  <a:lnTo>
                    <a:pt x="0" y="9634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1018170" y="218916"/>
              <a:ext cx="217556" cy="43907"/>
            </a:xfrm>
            <a:custGeom>
              <a:avLst/>
              <a:gdLst/>
              <a:ahLst/>
              <a:cxnLst/>
              <a:rect r="r" b="b" t="t" l="l"/>
              <a:pathLst>
                <a:path h="43907" w="217556">
                  <a:moveTo>
                    <a:pt x="0" y="0"/>
                  </a:moveTo>
                  <a:lnTo>
                    <a:pt x="217556" y="0"/>
                  </a:lnTo>
                  <a:lnTo>
                    <a:pt x="217556" y="43906"/>
                  </a:lnTo>
                  <a:lnTo>
                    <a:pt x="0" y="43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9" id="39"/>
            <p:cNvGrpSpPr/>
            <p:nvPr/>
          </p:nvGrpSpPr>
          <p:grpSpPr>
            <a:xfrm rot="-2700000">
              <a:off x="889395" y="407657"/>
              <a:ext cx="148163" cy="148163"/>
              <a:chOff x="0" y="0"/>
              <a:chExt cx="166656" cy="166656"/>
            </a:xfrm>
          </p:grpSpPr>
          <p:sp>
            <p:nvSpPr>
              <p:cNvPr name="Freeform 40" id="40"/>
              <p:cNvSpPr/>
              <p:nvPr/>
            </p:nvSpPr>
            <p:spPr>
              <a:xfrm flipH="false" flipV="false" rot="0">
                <a:off x="0" y="0"/>
                <a:ext cx="166656" cy="166656"/>
              </a:xfrm>
              <a:custGeom>
                <a:avLst/>
                <a:gdLst/>
                <a:ahLst/>
                <a:cxnLst/>
                <a:rect r="r" b="b" t="t" l="l"/>
                <a:pathLst>
                  <a:path h="166656" w="166656">
                    <a:moveTo>
                      <a:pt x="0" y="0"/>
                    </a:moveTo>
                    <a:lnTo>
                      <a:pt x="166656" y="0"/>
                    </a:lnTo>
                    <a:lnTo>
                      <a:pt x="166656" y="166656"/>
                    </a:lnTo>
                    <a:lnTo>
                      <a:pt x="0" y="166656"/>
                    </a:lnTo>
                    <a:close/>
                  </a:path>
                </a:pathLst>
              </a:custGeom>
              <a:solidFill>
                <a:srgbClr val="00AEEF"/>
              </a:solidFill>
            </p:spPr>
          </p:sp>
          <p:sp>
            <p:nvSpPr>
              <p:cNvPr name="TextBox 41" id="41"/>
              <p:cNvSpPr txBox="true"/>
              <p:nvPr/>
            </p:nvSpPr>
            <p:spPr>
              <a:xfrm>
                <a:off x="0" y="28575"/>
                <a:ext cx="166656" cy="138081"/>
              </a:xfrm>
              <a:prstGeom prst="rect">
                <a:avLst/>
              </a:prstGeom>
            </p:spPr>
            <p:txBody>
              <a:bodyPr anchor="ctr" rtlCol="false" tIns="50800" lIns="50800" bIns="50800" rIns="50800"/>
              <a:lstStyle/>
              <a:p>
                <a:pPr algn="ctr">
                  <a:lnSpc>
                    <a:spcPts val="1935"/>
                  </a:lnSpc>
                </a:pPr>
              </a:p>
            </p:txBody>
          </p:sp>
        </p:grpSp>
        <p:sp>
          <p:nvSpPr>
            <p:cNvPr name="Freeform 42" id="42"/>
            <p:cNvSpPr/>
            <p:nvPr/>
          </p:nvSpPr>
          <p:spPr>
            <a:xfrm flipH="false" flipV="false" rot="0">
              <a:off x="734299" y="218916"/>
              <a:ext cx="217556" cy="43907"/>
            </a:xfrm>
            <a:custGeom>
              <a:avLst/>
              <a:gdLst/>
              <a:ahLst/>
              <a:cxnLst/>
              <a:rect r="r" b="b" t="t" l="l"/>
              <a:pathLst>
                <a:path h="43907" w="217556">
                  <a:moveTo>
                    <a:pt x="0" y="0"/>
                  </a:moveTo>
                  <a:lnTo>
                    <a:pt x="217556" y="0"/>
                  </a:lnTo>
                  <a:lnTo>
                    <a:pt x="217556" y="43906"/>
                  </a:lnTo>
                  <a:lnTo>
                    <a:pt x="0" y="43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3" id="43"/>
            <p:cNvSpPr txBox="true"/>
            <p:nvPr/>
          </p:nvSpPr>
          <p:spPr>
            <a:xfrm rot="0">
              <a:off x="676753" y="262822"/>
              <a:ext cx="573447" cy="57492"/>
            </a:xfrm>
            <a:prstGeom prst="rect">
              <a:avLst/>
            </a:prstGeom>
          </p:spPr>
          <p:txBody>
            <a:bodyPr anchor="t" rtlCol="false" tIns="0" lIns="0" bIns="0" rIns="0">
              <a:spAutoFit/>
            </a:bodyPr>
            <a:lstStyle/>
            <a:p>
              <a:pPr algn="ctr">
                <a:lnSpc>
                  <a:spcPts val="218"/>
                </a:lnSpc>
              </a:pPr>
              <a:r>
                <a:rPr lang="en-US" sz="283" spc="-15">
                  <a:solidFill>
                    <a:srgbClr val="262262"/>
                  </a:solidFill>
                  <a:latin typeface="Lexend Deca"/>
                  <a:ea typeface="Lexend Deca"/>
                  <a:cs typeface="Lexend Deca"/>
                  <a:sym typeface="Lexend Deca"/>
                </a:rPr>
                <a:t>-  Any Suggestions?</a:t>
              </a:r>
            </a:p>
          </p:txBody>
        </p:sp>
      </p:grpSp>
      <p:sp>
        <p:nvSpPr>
          <p:cNvPr name="Freeform 44" id="44"/>
          <p:cNvSpPr/>
          <p:nvPr/>
        </p:nvSpPr>
        <p:spPr>
          <a:xfrm flipH="false" flipV="false" rot="0">
            <a:off x="4854621" y="4538373"/>
            <a:ext cx="4404452" cy="1063176"/>
          </a:xfrm>
          <a:custGeom>
            <a:avLst/>
            <a:gdLst/>
            <a:ahLst/>
            <a:cxnLst/>
            <a:rect r="r" b="b" t="t" l="l"/>
            <a:pathLst>
              <a:path h="1063176" w="4404452">
                <a:moveTo>
                  <a:pt x="0" y="0"/>
                </a:moveTo>
                <a:lnTo>
                  <a:pt x="4404452" y="0"/>
                </a:lnTo>
                <a:lnTo>
                  <a:pt x="4404452" y="1063176"/>
                </a:lnTo>
                <a:lnTo>
                  <a:pt x="0" y="10631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5" id="45"/>
          <p:cNvSpPr/>
          <p:nvPr/>
        </p:nvSpPr>
        <p:spPr>
          <a:xfrm flipH="false" flipV="false" rot="0">
            <a:off x="9419664" y="4575237"/>
            <a:ext cx="3888552" cy="938645"/>
          </a:xfrm>
          <a:custGeom>
            <a:avLst/>
            <a:gdLst/>
            <a:ahLst/>
            <a:cxnLst/>
            <a:rect r="r" b="b" t="t" l="l"/>
            <a:pathLst>
              <a:path h="938645" w="3888552">
                <a:moveTo>
                  <a:pt x="0" y="0"/>
                </a:moveTo>
                <a:lnTo>
                  <a:pt x="3888552" y="0"/>
                </a:lnTo>
                <a:lnTo>
                  <a:pt x="3888552" y="938645"/>
                </a:lnTo>
                <a:lnTo>
                  <a:pt x="0" y="9386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6" id="46"/>
          <p:cNvSpPr/>
          <p:nvPr/>
        </p:nvSpPr>
        <p:spPr>
          <a:xfrm flipH="false" flipV="false" rot="0">
            <a:off x="13470141" y="4639805"/>
            <a:ext cx="3686646" cy="889907"/>
          </a:xfrm>
          <a:custGeom>
            <a:avLst/>
            <a:gdLst/>
            <a:ahLst/>
            <a:cxnLst/>
            <a:rect r="r" b="b" t="t" l="l"/>
            <a:pathLst>
              <a:path h="889907" w="3686646">
                <a:moveTo>
                  <a:pt x="0" y="0"/>
                </a:moveTo>
                <a:lnTo>
                  <a:pt x="3686646" y="0"/>
                </a:lnTo>
                <a:lnTo>
                  <a:pt x="3686646" y="889908"/>
                </a:lnTo>
                <a:lnTo>
                  <a:pt x="0" y="8899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7" id="47"/>
          <p:cNvSpPr txBox="true"/>
          <p:nvPr/>
        </p:nvSpPr>
        <p:spPr>
          <a:xfrm rot="0">
            <a:off x="1028700" y="1470356"/>
            <a:ext cx="7515225" cy="772795"/>
          </a:xfrm>
          <a:prstGeom prst="rect">
            <a:avLst/>
          </a:prstGeom>
        </p:spPr>
        <p:txBody>
          <a:bodyPr anchor="t" rtlCol="false" tIns="0" lIns="0" bIns="0" rIns="0">
            <a:spAutoFit/>
          </a:bodyPr>
          <a:lstStyle/>
          <a:p>
            <a:pPr algn="l">
              <a:lnSpc>
                <a:spcPts val="5389"/>
              </a:lnSpc>
            </a:pPr>
            <a:r>
              <a:rPr lang="en-US" sz="6999" spc="-370">
                <a:solidFill>
                  <a:srgbClr val="262262"/>
                </a:solidFill>
                <a:latin typeface="Lexend Deca"/>
                <a:ea typeface="Lexend Deca"/>
                <a:cs typeface="Lexend Deca"/>
                <a:sym typeface="Lexend Deca"/>
              </a:rPr>
              <a:t>Drawbacks</a:t>
            </a:r>
          </a:p>
        </p:txBody>
      </p:sp>
      <p:sp>
        <p:nvSpPr>
          <p:cNvPr name="TextBox 48" id="48"/>
          <p:cNvSpPr txBox="true"/>
          <p:nvPr/>
        </p:nvSpPr>
        <p:spPr>
          <a:xfrm rot="0">
            <a:off x="751837" y="5811670"/>
            <a:ext cx="3841594" cy="2235904"/>
          </a:xfrm>
          <a:prstGeom prst="rect">
            <a:avLst/>
          </a:prstGeom>
        </p:spPr>
        <p:txBody>
          <a:bodyPr anchor="t" rtlCol="false" tIns="0" lIns="0" bIns="0" rIns="0">
            <a:spAutoFit/>
          </a:bodyPr>
          <a:lstStyle/>
          <a:p>
            <a:pPr algn="l">
              <a:lnSpc>
                <a:spcPts val="2928"/>
              </a:lnSpc>
            </a:pPr>
            <a:r>
              <a:rPr lang="en-US" sz="2361" spc="-125">
                <a:solidFill>
                  <a:srgbClr val="262262"/>
                </a:solidFill>
                <a:latin typeface="Lexend Deca"/>
                <a:ea typeface="Lexend Deca"/>
                <a:cs typeface="Lexend Deca"/>
                <a:sym typeface="Lexend Deca"/>
              </a:rPr>
              <a:t>As of now, we are measuring only concentrations of CO,NO2,PM2.5 along with NH3 in which only CO,NO2 &amp; PM2.5 are considered for air quality index</a:t>
            </a:r>
          </a:p>
        </p:txBody>
      </p:sp>
      <p:sp>
        <p:nvSpPr>
          <p:cNvPr name="TextBox 49" id="49"/>
          <p:cNvSpPr txBox="true"/>
          <p:nvPr/>
        </p:nvSpPr>
        <p:spPr>
          <a:xfrm rot="0">
            <a:off x="9721859" y="5811670"/>
            <a:ext cx="3534201" cy="1864429"/>
          </a:xfrm>
          <a:prstGeom prst="rect">
            <a:avLst/>
          </a:prstGeom>
        </p:spPr>
        <p:txBody>
          <a:bodyPr anchor="t" rtlCol="false" tIns="0" lIns="0" bIns="0" rIns="0">
            <a:spAutoFit/>
          </a:bodyPr>
          <a:lstStyle/>
          <a:p>
            <a:pPr algn="l">
              <a:lnSpc>
                <a:spcPts val="2928"/>
              </a:lnSpc>
            </a:pPr>
            <a:r>
              <a:rPr lang="en-US" sz="2361" spc="-125">
                <a:solidFill>
                  <a:srgbClr val="262262"/>
                </a:solidFill>
                <a:latin typeface="Lexend Deca"/>
                <a:ea typeface="Lexend Deca"/>
                <a:cs typeface="Lexend Deca"/>
                <a:sym typeface="Lexend Deca"/>
              </a:rPr>
              <a:t>Since we are measuring factors like Temperature, Pressure etc.,they can affect other gas sensors performance</a:t>
            </a:r>
          </a:p>
        </p:txBody>
      </p:sp>
      <p:sp>
        <p:nvSpPr>
          <p:cNvPr name="TextBox 50" id="50"/>
          <p:cNvSpPr txBox="true"/>
          <p:nvPr/>
        </p:nvSpPr>
        <p:spPr>
          <a:xfrm rot="0">
            <a:off x="609978" y="4565712"/>
            <a:ext cx="3664491" cy="890339"/>
          </a:xfrm>
          <a:prstGeom prst="rect">
            <a:avLst/>
          </a:prstGeom>
        </p:spPr>
        <p:txBody>
          <a:bodyPr anchor="t" rtlCol="false" tIns="0" lIns="0" bIns="0" rIns="0">
            <a:spAutoFit/>
          </a:bodyPr>
          <a:lstStyle/>
          <a:p>
            <a:pPr algn="l">
              <a:lnSpc>
                <a:spcPts val="3548"/>
              </a:lnSpc>
            </a:pPr>
            <a:r>
              <a:rPr lang="en-US" sz="2861" spc="-151">
                <a:solidFill>
                  <a:srgbClr val="262262"/>
                </a:solidFill>
                <a:latin typeface="Lexend Deca"/>
                <a:ea typeface="Lexend Deca"/>
                <a:cs typeface="Lexend Deca"/>
                <a:sym typeface="Lexend Deca"/>
              </a:rPr>
              <a:t>Limited Air Quality Parameters Readings</a:t>
            </a:r>
          </a:p>
        </p:txBody>
      </p:sp>
      <p:sp>
        <p:nvSpPr>
          <p:cNvPr name="TextBox 51" id="51"/>
          <p:cNvSpPr txBox="true"/>
          <p:nvPr/>
        </p:nvSpPr>
        <p:spPr>
          <a:xfrm rot="0">
            <a:off x="9643725" y="4565712"/>
            <a:ext cx="3408478" cy="890339"/>
          </a:xfrm>
          <a:prstGeom prst="rect">
            <a:avLst/>
          </a:prstGeom>
        </p:spPr>
        <p:txBody>
          <a:bodyPr anchor="t" rtlCol="false" tIns="0" lIns="0" bIns="0" rIns="0">
            <a:spAutoFit/>
          </a:bodyPr>
          <a:lstStyle/>
          <a:p>
            <a:pPr algn="l">
              <a:lnSpc>
                <a:spcPts val="3548"/>
              </a:lnSpc>
            </a:pPr>
            <a:r>
              <a:rPr lang="en-US" sz="2861" spc="-151">
                <a:solidFill>
                  <a:srgbClr val="262262"/>
                </a:solidFill>
                <a:latin typeface="Lexend Deca"/>
                <a:ea typeface="Lexend Deca"/>
                <a:cs typeface="Lexend Deca"/>
                <a:sym typeface="Lexend Deca"/>
              </a:rPr>
              <a:t>Environmental</a:t>
            </a:r>
          </a:p>
          <a:p>
            <a:pPr algn="l">
              <a:lnSpc>
                <a:spcPts val="3548"/>
              </a:lnSpc>
            </a:pPr>
            <a:r>
              <a:rPr lang="en-US" sz="2861" spc="-151">
                <a:solidFill>
                  <a:srgbClr val="262262"/>
                </a:solidFill>
                <a:latin typeface="Lexend Deca"/>
                <a:ea typeface="Lexend Deca"/>
                <a:cs typeface="Lexend Deca"/>
                <a:sym typeface="Lexend Deca"/>
              </a:rPr>
              <a:t>Interference</a:t>
            </a:r>
          </a:p>
        </p:txBody>
      </p:sp>
      <p:sp>
        <p:nvSpPr>
          <p:cNvPr name="TextBox 52" id="52"/>
          <p:cNvSpPr txBox="true"/>
          <p:nvPr/>
        </p:nvSpPr>
        <p:spPr>
          <a:xfrm rot="0">
            <a:off x="5126852" y="4551176"/>
            <a:ext cx="3661089" cy="890339"/>
          </a:xfrm>
          <a:prstGeom prst="rect">
            <a:avLst/>
          </a:prstGeom>
        </p:spPr>
        <p:txBody>
          <a:bodyPr anchor="t" rtlCol="false" tIns="0" lIns="0" bIns="0" rIns="0">
            <a:spAutoFit/>
          </a:bodyPr>
          <a:lstStyle/>
          <a:p>
            <a:pPr algn="l">
              <a:lnSpc>
                <a:spcPts val="3548"/>
              </a:lnSpc>
            </a:pPr>
            <a:r>
              <a:rPr lang="en-US" sz="2861" spc="-151">
                <a:solidFill>
                  <a:srgbClr val="262262"/>
                </a:solidFill>
                <a:latin typeface="Lexend Deca"/>
                <a:ea typeface="Lexend Deca"/>
                <a:cs typeface="Lexend Deca"/>
                <a:sym typeface="Lexend Deca"/>
              </a:rPr>
              <a:t>Non-Usage of sensors of high cost</a:t>
            </a:r>
          </a:p>
        </p:txBody>
      </p:sp>
      <p:grpSp>
        <p:nvGrpSpPr>
          <p:cNvPr name="Group 53" id="53"/>
          <p:cNvGrpSpPr/>
          <p:nvPr/>
        </p:nvGrpSpPr>
        <p:grpSpPr>
          <a:xfrm rot="-2700000">
            <a:off x="4817215" y="5945525"/>
            <a:ext cx="149208" cy="149208"/>
            <a:chOff x="0" y="0"/>
            <a:chExt cx="39298" cy="39298"/>
          </a:xfrm>
        </p:grpSpPr>
        <p:sp>
          <p:nvSpPr>
            <p:cNvPr name="Freeform 54" id="54"/>
            <p:cNvSpPr/>
            <p:nvPr/>
          </p:nvSpPr>
          <p:spPr>
            <a:xfrm flipH="false" flipV="false" rot="0">
              <a:off x="0" y="0"/>
              <a:ext cx="39298" cy="39298"/>
            </a:xfrm>
            <a:custGeom>
              <a:avLst/>
              <a:gdLst/>
              <a:ahLst/>
              <a:cxnLst/>
              <a:rect r="r" b="b" t="t" l="l"/>
              <a:pathLst>
                <a:path h="39298" w="39298">
                  <a:moveTo>
                    <a:pt x="0" y="0"/>
                  </a:moveTo>
                  <a:lnTo>
                    <a:pt x="39298" y="0"/>
                  </a:lnTo>
                  <a:lnTo>
                    <a:pt x="39298" y="39298"/>
                  </a:lnTo>
                  <a:lnTo>
                    <a:pt x="0" y="39298"/>
                  </a:lnTo>
                  <a:close/>
                </a:path>
              </a:pathLst>
            </a:custGeom>
            <a:solidFill>
              <a:srgbClr val="00AEEF"/>
            </a:solidFill>
          </p:spPr>
        </p:sp>
        <p:sp>
          <p:nvSpPr>
            <p:cNvPr name="TextBox 55" id="55"/>
            <p:cNvSpPr txBox="true"/>
            <p:nvPr/>
          </p:nvSpPr>
          <p:spPr>
            <a:xfrm>
              <a:off x="0" y="28575"/>
              <a:ext cx="39298" cy="10723"/>
            </a:xfrm>
            <a:prstGeom prst="rect">
              <a:avLst/>
            </a:prstGeom>
          </p:spPr>
          <p:txBody>
            <a:bodyPr anchor="ctr" rtlCol="false" tIns="50800" lIns="50800" bIns="50800" rIns="50800"/>
            <a:lstStyle/>
            <a:p>
              <a:pPr algn="ctr">
                <a:lnSpc>
                  <a:spcPts val="1935"/>
                </a:lnSpc>
              </a:pPr>
            </a:p>
          </p:txBody>
        </p:sp>
      </p:grpSp>
      <p:grpSp>
        <p:nvGrpSpPr>
          <p:cNvPr name="Group 56" id="56"/>
          <p:cNvGrpSpPr/>
          <p:nvPr/>
        </p:nvGrpSpPr>
        <p:grpSpPr>
          <a:xfrm rot="-2700000">
            <a:off x="9398410" y="5945525"/>
            <a:ext cx="149208" cy="149208"/>
            <a:chOff x="0" y="0"/>
            <a:chExt cx="39298" cy="39298"/>
          </a:xfrm>
        </p:grpSpPr>
        <p:sp>
          <p:nvSpPr>
            <p:cNvPr name="Freeform 57" id="57"/>
            <p:cNvSpPr/>
            <p:nvPr/>
          </p:nvSpPr>
          <p:spPr>
            <a:xfrm flipH="false" flipV="false" rot="0">
              <a:off x="0" y="0"/>
              <a:ext cx="39298" cy="39298"/>
            </a:xfrm>
            <a:custGeom>
              <a:avLst/>
              <a:gdLst/>
              <a:ahLst/>
              <a:cxnLst/>
              <a:rect r="r" b="b" t="t" l="l"/>
              <a:pathLst>
                <a:path h="39298" w="39298">
                  <a:moveTo>
                    <a:pt x="0" y="0"/>
                  </a:moveTo>
                  <a:lnTo>
                    <a:pt x="39298" y="0"/>
                  </a:lnTo>
                  <a:lnTo>
                    <a:pt x="39298" y="39298"/>
                  </a:lnTo>
                  <a:lnTo>
                    <a:pt x="0" y="39298"/>
                  </a:lnTo>
                  <a:close/>
                </a:path>
              </a:pathLst>
            </a:custGeom>
            <a:solidFill>
              <a:srgbClr val="00AEEF"/>
            </a:solidFill>
          </p:spPr>
        </p:sp>
        <p:sp>
          <p:nvSpPr>
            <p:cNvPr name="TextBox 58" id="58"/>
            <p:cNvSpPr txBox="true"/>
            <p:nvPr/>
          </p:nvSpPr>
          <p:spPr>
            <a:xfrm>
              <a:off x="0" y="28575"/>
              <a:ext cx="39298" cy="10723"/>
            </a:xfrm>
            <a:prstGeom prst="rect">
              <a:avLst/>
            </a:prstGeom>
          </p:spPr>
          <p:txBody>
            <a:bodyPr anchor="ctr" rtlCol="false" tIns="50800" lIns="50800" bIns="50800" rIns="50800"/>
            <a:lstStyle/>
            <a:p>
              <a:pPr algn="ctr">
                <a:lnSpc>
                  <a:spcPts val="1935"/>
                </a:lnSpc>
              </a:pPr>
            </a:p>
          </p:txBody>
        </p:sp>
      </p:grpSp>
      <p:grpSp>
        <p:nvGrpSpPr>
          <p:cNvPr name="Group 59" id="59"/>
          <p:cNvGrpSpPr/>
          <p:nvPr/>
        </p:nvGrpSpPr>
        <p:grpSpPr>
          <a:xfrm rot="-2700000">
            <a:off x="13401262" y="5945525"/>
            <a:ext cx="149208" cy="149208"/>
            <a:chOff x="0" y="0"/>
            <a:chExt cx="39298" cy="39298"/>
          </a:xfrm>
        </p:grpSpPr>
        <p:sp>
          <p:nvSpPr>
            <p:cNvPr name="Freeform 60" id="60"/>
            <p:cNvSpPr/>
            <p:nvPr/>
          </p:nvSpPr>
          <p:spPr>
            <a:xfrm flipH="false" flipV="false" rot="0">
              <a:off x="0" y="0"/>
              <a:ext cx="39298" cy="39298"/>
            </a:xfrm>
            <a:custGeom>
              <a:avLst/>
              <a:gdLst/>
              <a:ahLst/>
              <a:cxnLst/>
              <a:rect r="r" b="b" t="t" l="l"/>
              <a:pathLst>
                <a:path h="39298" w="39298">
                  <a:moveTo>
                    <a:pt x="0" y="0"/>
                  </a:moveTo>
                  <a:lnTo>
                    <a:pt x="39298" y="0"/>
                  </a:lnTo>
                  <a:lnTo>
                    <a:pt x="39298" y="39298"/>
                  </a:lnTo>
                  <a:lnTo>
                    <a:pt x="0" y="39298"/>
                  </a:lnTo>
                  <a:close/>
                </a:path>
              </a:pathLst>
            </a:custGeom>
            <a:solidFill>
              <a:srgbClr val="00AEEF"/>
            </a:solidFill>
          </p:spPr>
        </p:sp>
        <p:sp>
          <p:nvSpPr>
            <p:cNvPr name="TextBox 61" id="61"/>
            <p:cNvSpPr txBox="true"/>
            <p:nvPr/>
          </p:nvSpPr>
          <p:spPr>
            <a:xfrm>
              <a:off x="0" y="28575"/>
              <a:ext cx="39298" cy="10723"/>
            </a:xfrm>
            <a:prstGeom prst="rect">
              <a:avLst/>
            </a:prstGeom>
          </p:spPr>
          <p:txBody>
            <a:bodyPr anchor="ctr" rtlCol="false" tIns="50800" lIns="50800" bIns="50800" rIns="50800"/>
            <a:lstStyle/>
            <a:p>
              <a:pPr algn="ctr">
                <a:lnSpc>
                  <a:spcPts val="1935"/>
                </a:lnSpc>
              </a:pPr>
            </a:p>
          </p:txBody>
        </p:sp>
      </p:grpSp>
      <p:sp>
        <p:nvSpPr>
          <p:cNvPr name="TextBox 62" id="62"/>
          <p:cNvSpPr txBox="true"/>
          <p:nvPr/>
        </p:nvSpPr>
        <p:spPr>
          <a:xfrm rot="0">
            <a:off x="13653238" y="4604152"/>
            <a:ext cx="3614787" cy="1310470"/>
          </a:xfrm>
          <a:prstGeom prst="rect">
            <a:avLst/>
          </a:prstGeom>
        </p:spPr>
        <p:txBody>
          <a:bodyPr anchor="t" rtlCol="false" tIns="0" lIns="0" bIns="0" rIns="0">
            <a:spAutoFit/>
          </a:bodyPr>
          <a:lstStyle/>
          <a:p>
            <a:pPr algn="l">
              <a:lnSpc>
                <a:spcPts val="3499"/>
              </a:lnSpc>
            </a:pPr>
            <a:r>
              <a:rPr lang="en-US" sz="2822" spc="-149">
                <a:solidFill>
                  <a:srgbClr val="262262"/>
                </a:solidFill>
                <a:latin typeface="Lexend Deca"/>
                <a:ea typeface="Lexend Deca"/>
                <a:cs typeface="Lexend Deca"/>
                <a:sym typeface="Lexend Deca"/>
              </a:rPr>
              <a:t>Regular Caliberation and maintenance</a:t>
            </a:r>
          </a:p>
          <a:p>
            <a:pPr algn="l">
              <a:lnSpc>
                <a:spcPts val="3499"/>
              </a:lnSpc>
            </a:pPr>
          </a:p>
        </p:txBody>
      </p:sp>
      <p:sp>
        <p:nvSpPr>
          <p:cNvPr name="TextBox 63" id="63"/>
          <p:cNvSpPr txBox="true"/>
          <p:nvPr/>
        </p:nvSpPr>
        <p:spPr>
          <a:xfrm rot="0">
            <a:off x="13733824" y="5811670"/>
            <a:ext cx="3534201" cy="1864429"/>
          </a:xfrm>
          <a:prstGeom prst="rect">
            <a:avLst/>
          </a:prstGeom>
        </p:spPr>
        <p:txBody>
          <a:bodyPr anchor="t" rtlCol="false" tIns="0" lIns="0" bIns="0" rIns="0">
            <a:spAutoFit/>
          </a:bodyPr>
          <a:lstStyle/>
          <a:p>
            <a:pPr algn="l">
              <a:lnSpc>
                <a:spcPts val="2928"/>
              </a:lnSpc>
            </a:pPr>
            <a:r>
              <a:rPr lang="en-US" sz="2361" spc="-125">
                <a:solidFill>
                  <a:srgbClr val="262262"/>
                </a:solidFill>
                <a:latin typeface="Lexend Deca"/>
                <a:ea typeface="Lexend Deca"/>
                <a:cs typeface="Lexend Deca"/>
                <a:sym typeface="Lexend Deca"/>
              </a:rPr>
              <a:t>They require regular caliberation and maintenance to ensure accuracy of taken readings.</a:t>
            </a:r>
          </a:p>
        </p:txBody>
      </p:sp>
      <p:sp>
        <p:nvSpPr>
          <p:cNvPr name="TextBox 64" id="64"/>
          <p:cNvSpPr txBox="true"/>
          <p:nvPr/>
        </p:nvSpPr>
        <p:spPr>
          <a:xfrm rot="0">
            <a:off x="5099381" y="5838422"/>
            <a:ext cx="3688560" cy="1864429"/>
          </a:xfrm>
          <a:prstGeom prst="rect">
            <a:avLst/>
          </a:prstGeom>
        </p:spPr>
        <p:txBody>
          <a:bodyPr anchor="t" rtlCol="false" tIns="0" lIns="0" bIns="0" rIns="0">
            <a:spAutoFit/>
          </a:bodyPr>
          <a:lstStyle/>
          <a:p>
            <a:pPr algn="l">
              <a:lnSpc>
                <a:spcPts val="2928"/>
              </a:lnSpc>
            </a:pPr>
            <a:r>
              <a:rPr lang="en-US" sz="2361" spc="-125">
                <a:solidFill>
                  <a:srgbClr val="262262"/>
                </a:solidFill>
                <a:latin typeface="Lexend Deca"/>
                <a:ea typeface="Lexend Deca"/>
                <a:cs typeface="Lexend Deca"/>
                <a:sym typeface="Lexend Deca"/>
              </a:rPr>
              <a:t>Including sensors which can measure SO2,PM10 and O3 will increase burden of cost, so,we didn’t account for those concentrations.</a:t>
            </a:r>
          </a:p>
        </p:txBody>
      </p:sp>
      <p:sp>
        <p:nvSpPr>
          <p:cNvPr name="Freeform 65" id="65"/>
          <p:cNvSpPr/>
          <p:nvPr/>
        </p:nvSpPr>
        <p:spPr>
          <a:xfrm flipH="false" flipV="false" rot="0">
            <a:off x="-312339" y="7162275"/>
            <a:ext cx="3664308" cy="4665207"/>
          </a:xfrm>
          <a:custGeom>
            <a:avLst/>
            <a:gdLst/>
            <a:ahLst/>
            <a:cxnLst/>
            <a:rect r="r" b="b" t="t" l="l"/>
            <a:pathLst>
              <a:path h="4665207" w="3664308">
                <a:moveTo>
                  <a:pt x="0" y="0"/>
                </a:moveTo>
                <a:lnTo>
                  <a:pt x="3664308" y="0"/>
                </a:lnTo>
                <a:lnTo>
                  <a:pt x="3664308" y="4665207"/>
                </a:lnTo>
                <a:lnTo>
                  <a:pt x="0" y="46652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6" id="66"/>
          <p:cNvSpPr/>
          <p:nvPr/>
        </p:nvSpPr>
        <p:spPr>
          <a:xfrm flipH="false" flipV="false" rot="-10800000">
            <a:off x="15916072" y="0"/>
            <a:ext cx="2371928" cy="2371928"/>
          </a:xfrm>
          <a:custGeom>
            <a:avLst/>
            <a:gdLst/>
            <a:ahLst/>
            <a:cxnLst/>
            <a:rect r="r" b="b" t="t" l="l"/>
            <a:pathLst>
              <a:path h="2371928" w="2371928">
                <a:moveTo>
                  <a:pt x="0" y="0"/>
                </a:moveTo>
                <a:lnTo>
                  <a:pt x="2371928" y="0"/>
                </a:lnTo>
                <a:lnTo>
                  <a:pt x="2371928" y="2371928"/>
                </a:lnTo>
                <a:lnTo>
                  <a:pt x="0" y="23719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67" id="67"/>
          <p:cNvSpPr/>
          <p:nvPr/>
        </p:nvSpPr>
        <p:spPr>
          <a:xfrm flipH="false" flipV="false" rot="0">
            <a:off x="6494529" y="8731552"/>
            <a:ext cx="929135" cy="187516"/>
          </a:xfrm>
          <a:custGeom>
            <a:avLst/>
            <a:gdLst/>
            <a:ahLst/>
            <a:cxnLst/>
            <a:rect r="r" b="b" t="t" l="l"/>
            <a:pathLst>
              <a:path h="187516" w="929135">
                <a:moveTo>
                  <a:pt x="0" y="0"/>
                </a:moveTo>
                <a:lnTo>
                  <a:pt x="929136" y="0"/>
                </a:lnTo>
                <a:lnTo>
                  <a:pt x="929136" y="187516"/>
                </a:lnTo>
                <a:lnTo>
                  <a:pt x="0" y="1875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172200"/>
            <a:ext cx="3120887" cy="4114800"/>
          </a:xfrm>
          <a:custGeom>
            <a:avLst/>
            <a:gdLst/>
            <a:ahLst/>
            <a:cxnLst/>
            <a:rect r="r" b="b" t="t" l="l"/>
            <a:pathLst>
              <a:path h="4114800" w="3120887">
                <a:moveTo>
                  <a:pt x="0" y="0"/>
                </a:moveTo>
                <a:lnTo>
                  <a:pt x="3120887" y="0"/>
                </a:lnTo>
                <a:lnTo>
                  <a:pt x="312088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567285" y="4567809"/>
            <a:ext cx="11153429" cy="1808607"/>
          </a:xfrm>
          <a:prstGeom prst="rect">
            <a:avLst/>
          </a:prstGeom>
        </p:spPr>
        <p:txBody>
          <a:bodyPr anchor="t" rtlCol="false" tIns="0" lIns="0" bIns="0" rIns="0">
            <a:spAutoFit/>
          </a:bodyPr>
          <a:lstStyle/>
          <a:p>
            <a:pPr algn="ctr">
              <a:lnSpc>
                <a:spcPts val="12474"/>
              </a:lnSpc>
            </a:pPr>
            <a:r>
              <a:rPr lang="en-US" sz="16200" spc="-858">
                <a:solidFill>
                  <a:srgbClr val="262262"/>
                </a:solidFill>
                <a:latin typeface="Lexend Deca"/>
                <a:ea typeface="Lexend Deca"/>
                <a:cs typeface="Lexend Deca"/>
                <a:sym typeface="Lexend Deca"/>
              </a:rPr>
              <a:t>Thank you</a:t>
            </a:r>
          </a:p>
        </p:txBody>
      </p:sp>
      <p:sp>
        <p:nvSpPr>
          <p:cNvPr name="Freeform 4" id="4"/>
          <p:cNvSpPr/>
          <p:nvPr/>
        </p:nvSpPr>
        <p:spPr>
          <a:xfrm flipH="false" flipV="false" rot="5400000">
            <a:off x="496957" y="-496957"/>
            <a:ext cx="3120887" cy="4114800"/>
          </a:xfrm>
          <a:custGeom>
            <a:avLst/>
            <a:gdLst/>
            <a:ahLst/>
            <a:cxnLst/>
            <a:rect r="r" b="b" t="t" l="l"/>
            <a:pathLst>
              <a:path h="4114800" w="3120887">
                <a:moveTo>
                  <a:pt x="0" y="0"/>
                </a:moveTo>
                <a:lnTo>
                  <a:pt x="3120886" y="0"/>
                </a:lnTo>
                <a:lnTo>
                  <a:pt x="312088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5167113" y="0"/>
            <a:ext cx="3120887" cy="4114800"/>
          </a:xfrm>
          <a:custGeom>
            <a:avLst/>
            <a:gdLst/>
            <a:ahLst/>
            <a:cxnLst/>
            <a:rect r="r" b="b" t="t" l="l"/>
            <a:pathLst>
              <a:path h="4114800" w="3120887">
                <a:moveTo>
                  <a:pt x="0" y="0"/>
                </a:moveTo>
                <a:lnTo>
                  <a:pt x="3120887" y="0"/>
                </a:lnTo>
                <a:lnTo>
                  <a:pt x="312088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14670157" y="6669157"/>
            <a:ext cx="3120887" cy="4114800"/>
          </a:xfrm>
          <a:custGeom>
            <a:avLst/>
            <a:gdLst/>
            <a:ahLst/>
            <a:cxnLst/>
            <a:rect r="r" b="b" t="t" l="l"/>
            <a:pathLst>
              <a:path h="4114800" w="3120887">
                <a:moveTo>
                  <a:pt x="0" y="0"/>
                </a:moveTo>
                <a:lnTo>
                  <a:pt x="3120886" y="0"/>
                </a:lnTo>
                <a:lnTo>
                  <a:pt x="312088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5170686" y="5049742"/>
            <a:ext cx="929135" cy="187516"/>
          </a:xfrm>
          <a:custGeom>
            <a:avLst/>
            <a:gdLst/>
            <a:ahLst/>
            <a:cxnLst/>
            <a:rect r="r" b="b" t="t" l="l"/>
            <a:pathLst>
              <a:path h="187516" w="929135">
                <a:moveTo>
                  <a:pt x="0" y="0"/>
                </a:moveTo>
                <a:lnTo>
                  <a:pt x="929136" y="0"/>
                </a:lnTo>
                <a:lnTo>
                  <a:pt x="929136" y="187516"/>
                </a:lnTo>
                <a:lnTo>
                  <a:pt x="0" y="187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2700000">
            <a:off x="8827615" y="8494478"/>
            <a:ext cx="632770" cy="632770"/>
            <a:chOff x="0" y="0"/>
            <a:chExt cx="166656" cy="166656"/>
          </a:xfrm>
        </p:grpSpPr>
        <p:sp>
          <p:nvSpPr>
            <p:cNvPr name="Freeform 9" id="9"/>
            <p:cNvSpPr/>
            <p:nvPr/>
          </p:nvSpPr>
          <p:spPr>
            <a:xfrm flipH="false" flipV="false" rot="0">
              <a:off x="0" y="0"/>
              <a:ext cx="166656" cy="166656"/>
            </a:xfrm>
            <a:custGeom>
              <a:avLst/>
              <a:gdLst/>
              <a:ahLst/>
              <a:cxnLst/>
              <a:rect r="r" b="b" t="t" l="l"/>
              <a:pathLst>
                <a:path h="166656" w="166656">
                  <a:moveTo>
                    <a:pt x="0" y="0"/>
                  </a:moveTo>
                  <a:lnTo>
                    <a:pt x="166656" y="0"/>
                  </a:lnTo>
                  <a:lnTo>
                    <a:pt x="166656" y="166656"/>
                  </a:lnTo>
                  <a:lnTo>
                    <a:pt x="0" y="166656"/>
                  </a:lnTo>
                  <a:close/>
                </a:path>
              </a:pathLst>
            </a:custGeom>
            <a:solidFill>
              <a:srgbClr val="00AEEF"/>
            </a:solidFill>
          </p:spPr>
        </p:sp>
        <p:sp>
          <p:nvSpPr>
            <p:cNvPr name="TextBox 10" id="10"/>
            <p:cNvSpPr txBox="true"/>
            <p:nvPr/>
          </p:nvSpPr>
          <p:spPr>
            <a:xfrm>
              <a:off x="0" y="28575"/>
              <a:ext cx="166656" cy="138081"/>
            </a:xfrm>
            <a:prstGeom prst="rect">
              <a:avLst/>
            </a:prstGeom>
          </p:spPr>
          <p:txBody>
            <a:bodyPr anchor="ctr" rtlCol="false" tIns="50800" lIns="50800" bIns="50800" rIns="50800"/>
            <a:lstStyle/>
            <a:p>
              <a:pPr algn="ctr">
                <a:lnSpc>
                  <a:spcPts val="1935"/>
                </a:lnSpc>
              </a:pPr>
            </a:p>
          </p:txBody>
        </p:sp>
      </p:grpSp>
      <p:sp>
        <p:nvSpPr>
          <p:cNvPr name="Freeform 11" id="11"/>
          <p:cNvSpPr/>
          <p:nvPr/>
        </p:nvSpPr>
        <p:spPr>
          <a:xfrm flipH="false" flipV="false" rot="0">
            <a:off x="2188178" y="5049742"/>
            <a:ext cx="929135" cy="187516"/>
          </a:xfrm>
          <a:custGeom>
            <a:avLst/>
            <a:gdLst/>
            <a:ahLst/>
            <a:cxnLst/>
            <a:rect r="r" b="b" t="t" l="l"/>
            <a:pathLst>
              <a:path h="187516" w="929135">
                <a:moveTo>
                  <a:pt x="0" y="0"/>
                </a:moveTo>
                <a:lnTo>
                  <a:pt x="929136" y="0"/>
                </a:lnTo>
                <a:lnTo>
                  <a:pt x="929136" y="187516"/>
                </a:lnTo>
                <a:lnTo>
                  <a:pt x="0" y="1875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DAGiWYjrHeM</dc:identifier>
  <dcterms:modified xsi:type="dcterms:W3CDTF">2011-08-01T06:04:30Z</dcterms:modified>
  <cp:revision>1</cp:revision>
  <dc:title>Ecology PRoject</dc:title>
</cp:coreProperties>
</file>